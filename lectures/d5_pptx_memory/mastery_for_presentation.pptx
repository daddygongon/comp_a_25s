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compatMode="1" saveSubsetFonts="1" autoCompressPictures="0">
  <p:sldMasterIdLst>
    <p:sldMasterId id="2147483649" r:id="rId1"/>
  </p:sldMasterIdLst>
  <p:notesMasterIdLst>
    <p:notesMasterId r:id="rId39"/>
  </p:notesMasterIdLst>
  <p:handoutMasterIdLst>
    <p:handoutMasterId r:id="rId40"/>
  </p:handoutMasterIdLst>
  <p:sldIdLst>
    <p:sldId id="257" r:id="rId2"/>
    <p:sldId id="290" r:id="rId3"/>
    <p:sldId id="307" r:id="rId4"/>
    <p:sldId id="261" r:id="rId5"/>
    <p:sldId id="262" r:id="rId6"/>
    <p:sldId id="269" r:id="rId7"/>
    <p:sldId id="281" r:id="rId8"/>
    <p:sldId id="286" r:id="rId9"/>
    <p:sldId id="291" r:id="rId10"/>
    <p:sldId id="270" r:id="rId11"/>
    <p:sldId id="288" r:id="rId12"/>
    <p:sldId id="312" r:id="rId13"/>
    <p:sldId id="282" r:id="rId14"/>
    <p:sldId id="289" r:id="rId15"/>
    <p:sldId id="272" r:id="rId16"/>
    <p:sldId id="273" r:id="rId17"/>
    <p:sldId id="274" r:id="rId18"/>
    <p:sldId id="275" r:id="rId19"/>
    <p:sldId id="297" r:id="rId20"/>
    <p:sldId id="277" r:id="rId21"/>
    <p:sldId id="276" r:id="rId22"/>
    <p:sldId id="292" r:id="rId23"/>
    <p:sldId id="300" r:id="rId24"/>
    <p:sldId id="302" r:id="rId25"/>
    <p:sldId id="303" r:id="rId26"/>
    <p:sldId id="310" r:id="rId27"/>
    <p:sldId id="278" r:id="rId28"/>
    <p:sldId id="305" r:id="rId29"/>
    <p:sldId id="265" r:id="rId30"/>
    <p:sldId id="306" r:id="rId31"/>
    <p:sldId id="311" r:id="rId32"/>
    <p:sldId id="267" r:id="rId33"/>
    <p:sldId id="268" r:id="rId34"/>
    <p:sldId id="280" r:id="rId35"/>
    <p:sldId id="287" r:id="rId36"/>
    <p:sldId id="266" r:id="rId37"/>
    <p:sldId id="304" r:id="rId38"/>
  </p:sldIdLst>
  <p:sldSz cx="9144000" cy="6858000" type="screen4x3"/>
  <p:notesSz cx="6858000" cy="9144000"/>
  <p:defaultTextStyle>
    <a:defPPr>
      <a:defRPr lang="ja-JP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accent1"/>
      </a:buClr>
      <a:buSzPct val="90000"/>
      <a:buFont typeface="Wingdings" charset="2"/>
      <a:buChar char="n"/>
      <a:defRPr kumimoji="1" sz="2600" kern="1200">
        <a:solidFill>
          <a:schemeClr val="tx1"/>
        </a:solidFill>
        <a:latin typeface="Osaka−等幅" charset="-128"/>
        <a:ea typeface="Osaka−等幅" charset="-128"/>
        <a:cs typeface="+mn-cs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1"/>
      </a:buClr>
      <a:buSzPct val="90000"/>
      <a:buFont typeface="Wingdings" charset="2"/>
      <a:buChar char="n"/>
      <a:defRPr kumimoji="1" sz="2600" kern="1200">
        <a:solidFill>
          <a:schemeClr val="tx1"/>
        </a:solidFill>
        <a:latin typeface="Osaka−等幅" charset="-128"/>
        <a:ea typeface="Osaka−等幅" charset="-128"/>
        <a:cs typeface="+mn-cs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1"/>
      </a:buClr>
      <a:buSzPct val="90000"/>
      <a:buFont typeface="Wingdings" charset="2"/>
      <a:buChar char="n"/>
      <a:defRPr kumimoji="1" sz="2600" kern="1200">
        <a:solidFill>
          <a:schemeClr val="tx1"/>
        </a:solidFill>
        <a:latin typeface="Osaka−等幅" charset="-128"/>
        <a:ea typeface="Osaka−等幅" charset="-128"/>
        <a:cs typeface="+mn-cs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1"/>
      </a:buClr>
      <a:buSzPct val="90000"/>
      <a:buFont typeface="Wingdings" charset="2"/>
      <a:buChar char="n"/>
      <a:defRPr kumimoji="1" sz="2600" kern="1200">
        <a:solidFill>
          <a:schemeClr val="tx1"/>
        </a:solidFill>
        <a:latin typeface="Osaka−等幅" charset="-128"/>
        <a:ea typeface="Osaka−等幅" charset="-128"/>
        <a:cs typeface="+mn-cs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accent1"/>
      </a:buClr>
      <a:buSzPct val="90000"/>
      <a:buFont typeface="Wingdings" charset="2"/>
      <a:buChar char="n"/>
      <a:defRPr kumimoji="1" sz="2600" kern="1200">
        <a:solidFill>
          <a:schemeClr val="tx1"/>
        </a:solidFill>
        <a:latin typeface="Osaka−等幅" charset="-128"/>
        <a:ea typeface="Osaka−等幅" charset="-128"/>
        <a:cs typeface="+mn-cs"/>
      </a:defRPr>
    </a:lvl5pPr>
    <a:lvl6pPr marL="2286000" algn="l" defTabSz="914400" rtl="0" eaLnBrk="1" latinLnBrk="0" hangingPunct="1">
      <a:defRPr kumimoji="1" sz="2600" kern="1200">
        <a:solidFill>
          <a:schemeClr val="tx1"/>
        </a:solidFill>
        <a:latin typeface="Osaka−等幅" charset="-128"/>
        <a:ea typeface="Osaka−等幅" charset="-128"/>
        <a:cs typeface="+mn-cs"/>
      </a:defRPr>
    </a:lvl6pPr>
    <a:lvl7pPr marL="2743200" algn="l" defTabSz="914400" rtl="0" eaLnBrk="1" latinLnBrk="0" hangingPunct="1">
      <a:defRPr kumimoji="1" sz="2600" kern="1200">
        <a:solidFill>
          <a:schemeClr val="tx1"/>
        </a:solidFill>
        <a:latin typeface="Osaka−等幅" charset="-128"/>
        <a:ea typeface="Osaka−等幅" charset="-128"/>
        <a:cs typeface="+mn-cs"/>
      </a:defRPr>
    </a:lvl7pPr>
    <a:lvl8pPr marL="3200400" algn="l" defTabSz="914400" rtl="0" eaLnBrk="1" latinLnBrk="0" hangingPunct="1">
      <a:defRPr kumimoji="1" sz="2600" kern="1200">
        <a:solidFill>
          <a:schemeClr val="tx1"/>
        </a:solidFill>
        <a:latin typeface="Osaka−等幅" charset="-128"/>
        <a:ea typeface="Osaka−等幅" charset="-128"/>
        <a:cs typeface="+mn-cs"/>
      </a:defRPr>
    </a:lvl8pPr>
    <a:lvl9pPr marL="3657600" algn="l" defTabSz="914400" rtl="0" eaLnBrk="1" latinLnBrk="0" hangingPunct="1">
      <a:defRPr kumimoji="1" sz="2600" kern="1200">
        <a:solidFill>
          <a:schemeClr val="tx1"/>
        </a:solidFill>
        <a:latin typeface="Osaka−等幅" charset="-128"/>
        <a:ea typeface="Osaka−等幅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377E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4A95"/>
    <a:srgbClr val="FF89CC"/>
    <a:srgbClr val="66395E"/>
    <a:srgbClr val="000000"/>
    <a:srgbClr val="FF377E"/>
    <a:srgbClr val="DBFF1D"/>
    <a:srgbClr val="FF4500"/>
    <a:srgbClr val="FF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020" autoAdjust="0"/>
    <p:restoredTop sz="90924"/>
  </p:normalViewPr>
  <p:slideViewPr>
    <p:cSldViewPr>
      <p:cViewPr varScale="1">
        <p:scale>
          <a:sx n="98" d="100"/>
          <a:sy n="98" d="100"/>
        </p:scale>
        <p:origin x="51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13" Type="http://schemas.openxmlformats.org/officeDocument/2006/relationships/slide" Target="slides/slide14.xml"/><Relationship Id="rId18" Type="http://schemas.openxmlformats.org/officeDocument/2006/relationships/slide" Target="slides/slide19.xml"/><Relationship Id="rId26" Type="http://schemas.openxmlformats.org/officeDocument/2006/relationships/slide" Target="slides/slide31.xml"/><Relationship Id="rId3" Type="http://schemas.openxmlformats.org/officeDocument/2006/relationships/slide" Target="slides/slide3.xml"/><Relationship Id="rId21" Type="http://schemas.openxmlformats.org/officeDocument/2006/relationships/slide" Target="slides/slide22.xml"/><Relationship Id="rId7" Type="http://schemas.openxmlformats.org/officeDocument/2006/relationships/slide" Target="slides/slide7.xml"/><Relationship Id="rId12" Type="http://schemas.openxmlformats.org/officeDocument/2006/relationships/slide" Target="slides/slide13.xml"/><Relationship Id="rId17" Type="http://schemas.openxmlformats.org/officeDocument/2006/relationships/slide" Target="slides/slide18.xml"/><Relationship Id="rId25" Type="http://schemas.openxmlformats.org/officeDocument/2006/relationships/slide" Target="slides/slide30.xml"/><Relationship Id="rId2" Type="http://schemas.openxmlformats.org/officeDocument/2006/relationships/slide" Target="slides/slide2.xml"/><Relationship Id="rId16" Type="http://schemas.openxmlformats.org/officeDocument/2006/relationships/slide" Target="slides/slide17.xml"/><Relationship Id="rId20" Type="http://schemas.openxmlformats.org/officeDocument/2006/relationships/slide" Target="slides/slide21.xml"/><Relationship Id="rId29" Type="http://schemas.openxmlformats.org/officeDocument/2006/relationships/slide" Target="slides/slide34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1.xml"/><Relationship Id="rId24" Type="http://schemas.openxmlformats.org/officeDocument/2006/relationships/slide" Target="slides/slide28.xml"/><Relationship Id="rId5" Type="http://schemas.openxmlformats.org/officeDocument/2006/relationships/slide" Target="slides/slide5.xml"/><Relationship Id="rId15" Type="http://schemas.openxmlformats.org/officeDocument/2006/relationships/slide" Target="slides/slide16.xml"/><Relationship Id="rId23" Type="http://schemas.openxmlformats.org/officeDocument/2006/relationships/slide" Target="slides/slide27.xml"/><Relationship Id="rId28" Type="http://schemas.openxmlformats.org/officeDocument/2006/relationships/slide" Target="slides/slide33.xml"/><Relationship Id="rId10" Type="http://schemas.openxmlformats.org/officeDocument/2006/relationships/slide" Target="slides/slide10.xml"/><Relationship Id="rId19" Type="http://schemas.openxmlformats.org/officeDocument/2006/relationships/slide" Target="slides/slide20.xml"/><Relationship Id="rId31" Type="http://schemas.openxmlformats.org/officeDocument/2006/relationships/slide" Target="slides/slide36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4" Type="http://schemas.openxmlformats.org/officeDocument/2006/relationships/slide" Target="slides/slide15.xml"/><Relationship Id="rId22" Type="http://schemas.openxmlformats.org/officeDocument/2006/relationships/slide" Target="slides/slide26.xml"/><Relationship Id="rId27" Type="http://schemas.openxmlformats.org/officeDocument/2006/relationships/slide" Target="slides/slide32.xml"/><Relationship Id="rId30" Type="http://schemas.openxmlformats.org/officeDocument/2006/relationships/slide" Target="slides/slide3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Times" charset="0"/>
                <a:ea typeface="Osaka" charset="-128"/>
              </a:defRPr>
            </a:lvl1pPr>
          </a:lstStyle>
          <a:p>
            <a:endParaRPr lang="en-US" altLang="ja-JP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Times" charset="0"/>
                <a:ea typeface="Osaka" charset="-128"/>
              </a:defRPr>
            </a:lvl1pPr>
          </a:lstStyle>
          <a:p>
            <a:endParaRPr lang="en-US" altLang="ja-JP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Times" charset="0"/>
                <a:ea typeface="Osaka" charset="-128"/>
              </a:defRPr>
            </a:lvl1pPr>
          </a:lstStyle>
          <a:p>
            <a:endParaRPr lang="en-US" altLang="ja-JP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Times" charset="0"/>
                <a:ea typeface="Osaka" charset="-128"/>
              </a:defRPr>
            </a:lvl1pPr>
          </a:lstStyle>
          <a:p>
            <a:fld id="{B35EFC9E-A66B-E74A-B5A7-05B09E9CF3E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Times" charset="0"/>
                <a:ea typeface="Osaka" charset="-128"/>
              </a:defRPr>
            </a:lvl1pPr>
          </a:lstStyle>
          <a:p>
            <a:endParaRPr lang="en-US" altLang="ja-JP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Times" charset="0"/>
                <a:ea typeface="Osaka" charset="-128"/>
              </a:defRPr>
            </a:lvl1pPr>
          </a:lstStyle>
          <a:p>
            <a:endParaRPr lang="en-US" altLang="ja-JP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Times" charset="0"/>
                <a:ea typeface="Osaka" charset="-128"/>
              </a:defRPr>
            </a:lvl1pPr>
          </a:lstStyle>
          <a:p>
            <a:endParaRPr lang="en-US" altLang="ja-JP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Times" charset="0"/>
                <a:ea typeface="Osaka" charset="-128"/>
              </a:defRPr>
            </a:lvl1pPr>
          </a:lstStyle>
          <a:p>
            <a:fld id="{47C1B911-037D-E04D-827B-66EB2E23ECB7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charset="0"/>
        <a:ea typeface="Osaka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charset="0"/>
        <a:ea typeface="Osaka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charset="0"/>
        <a:ea typeface="Osaka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charset="0"/>
        <a:ea typeface="Osaka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" charset="0"/>
        <a:ea typeface="Osaka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65E931-373D-274A-AD6D-3634BE61096A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ノートの使用感をためすが．．．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609600"/>
            <a:ext cx="8077200" cy="16002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 noProof="0"/>
              <a:t>マスタ タイトルの書式設定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762000" y="2743200"/>
            <a:ext cx="7467600" cy="3352800"/>
          </a:xfrm>
        </p:spPr>
        <p:txBody>
          <a:bodyPr/>
          <a:lstStyle>
            <a:lvl1pPr marL="0" indent="0">
              <a:buFont typeface="Wingdings" charset="2"/>
              <a:buNone/>
              <a:defRPr sz="3200"/>
            </a:lvl1pPr>
          </a:lstStyle>
          <a:p>
            <a:pPr lvl="0"/>
            <a:r>
              <a:rPr lang="ja-JP" altLang="en-US" noProof="0"/>
              <a:t>マスタ サブタイトルの書式設定</a:t>
            </a:r>
          </a:p>
        </p:txBody>
      </p:sp>
      <p:grpSp>
        <p:nvGrpSpPr>
          <p:cNvPr id="36871" name="Group 7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6872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2400">
                <a:latin typeface="Times New Roman" charset="0"/>
                <a:ea typeface="Osaka" charset="-128"/>
              </a:endParaRPr>
            </a:p>
          </p:txBody>
        </p:sp>
        <p:sp>
          <p:nvSpPr>
            <p:cNvPr id="36873" name="Rectangle 9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2400">
                <a:latin typeface="Times New Roman" charset="0"/>
                <a:ea typeface="Osaka" charset="-128"/>
              </a:endParaRPr>
            </a:p>
          </p:txBody>
        </p:sp>
        <p:sp>
          <p:nvSpPr>
            <p:cNvPr id="36874" name="Rectangle 10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hlink"/>
                </a:solidFill>
                <a:latin typeface="Arial" charset="0"/>
                <a:ea typeface="Osaka" charset="-128"/>
              </a:endParaRPr>
            </a:p>
          </p:txBody>
        </p:sp>
        <p:sp>
          <p:nvSpPr>
            <p:cNvPr id="36875" name="Rectangle 11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hlink"/>
                </a:solidFill>
                <a:latin typeface="Arial" charset="0"/>
                <a:ea typeface="Osaka" charset="-128"/>
              </a:endParaRPr>
            </a:p>
          </p:txBody>
        </p:sp>
        <p:sp>
          <p:nvSpPr>
            <p:cNvPr id="36876" name="Rectangle 12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accent2"/>
                </a:solidFill>
                <a:latin typeface="Arial" charset="0"/>
                <a:ea typeface="Osaka" charset="-128"/>
              </a:endParaRPr>
            </a:p>
          </p:txBody>
        </p:sp>
        <p:sp>
          <p:nvSpPr>
            <p:cNvPr id="36877" name="Rectangle 13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hlink"/>
                </a:solidFill>
                <a:latin typeface="Arial" charset="0"/>
                <a:ea typeface="Osaka" charset="-128"/>
              </a:endParaRPr>
            </a:p>
          </p:txBody>
        </p:sp>
        <p:sp>
          <p:nvSpPr>
            <p:cNvPr id="36878" name="Rectangle 14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2400">
                <a:latin typeface="Times New Roman" charset="0"/>
                <a:ea typeface="Osaka" charset="-128"/>
              </a:endParaRPr>
            </a:p>
          </p:txBody>
        </p:sp>
        <p:sp>
          <p:nvSpPr>
            <p:cNvPr id="36879" name="Rectangle 15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accent2"/>
                </a:solidFill>
                <a:latin typeface="Arial" charset="0"/>
                <a:ea typeface="Osaka" charset="-128"/>
              </a:endParaRPr>
            </a:p>
          </p:txBody>
        </p:sp>
        <p:sp>
          <p:nvSpPr>
            <p:cNvPr id="36880" name="Rectangle 16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accent2"/>
                </a:solidFill>
                <a:latin typeface="Arial" charset="0"/>
                <a:ea typeface="Osaka" charset="-128"/>
              </a:endParaRPr>
            </a:p>
          </p:txBody>
        </p:sp>
      </p:grpSp>
      <p:sp>
        <p:nvSpPr>
          <p:cNvPr id="36881" name="WordArt 17"/>
          <p:cNvSpPr>
            <a:spLocks noChangeArrowheads="1" noChangeShapeType="1"/>
          </p:cNvSpPr>
          <p:nvPr/>
        </p:nvSpPr>
        <p:spPr bwMode="auto">
          <a:xfrm>
            <a:off x="3949700" y="6565900"/>
            <a:ext cx="43561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charset="2"/>
              <a:buNone/>
            </a:pPr>
            <a:r>
              <a:rPr lang="en-US" altLang="ja-JP" sz="900" b="1" kern="10">
                <a:solidFill>
                  <a:srgbClr val="336699"/>
                </a:solidFill>
                <a:effectLst>
                  <a:outerShdw blurRad="63500" dist="46662" dir="2115817" algn="ctr" rotWithShape="0">
                    <a:srgbClr val="C0C0C0">
                      <a:alpha val="74998"/>
                    </a:srgbClr>
                  </a:outerShdw>
                </a:effectLst>
                <a:latin typeface="New York" charset="0"/>
                <a:ea typeface="New York" charset="0"/>
                <a:cs typeface="New York" charset="0"/>
              </a:rPr>
              <a:t>Department of Materials Science and Engineering, Kyoto University</a:t>
            </a:r>
            <a:endParaRPr lang="ja-JP" altLang="en-US" sz="900" b="1" kern="10">
              <a:solidFill>
                <a:srgbClr val="336699"/>
              </a:solidFill>
              <a:effectLst>
                <a:outerShdw blurRad="63500" dist="46662" dir="2115817" algn="ctr" rotWithShape="0">
                  <a:srgbClr val="C0C0C0">
                    <a:alpha val="74998"/>
                  </a:srgbClr>
                </a:outerShdw>
              </a:effectLst>
              <a:latin typeface="New York" charset="0"/>
              <a:ea typeface="New York" charset="0"/>
              <a:cs typeface="New York" charset="0"/>
            </a:endParaRPr>
          </a:p>
        </p:txBody>
      </p:sp>
      <p:pic>
        <p:nvPicPr>
          <p:cNvPr id="36882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813" y="6126163"/>
            <a:ext cx="661987" cy="655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6883" name="Rectangle 19"/>
          <p:cNvSpPr>
            <a:spLocks noChangeArrowheads="1"/>
          </p:cNvSpPr>
          <p:nvPr/>
        </p:nvSpPr>
        <p:spPr bwMode="auto">
          <a:xfrm>
            <a:off x="0" y="6248400"/>
            <a:ext cx="8305800" cy="304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6884" name="Rectangle 20"/>
          <p:cNvSpPr>
            <a:spLocks noChangeArrowheads="1"/>
          </p:cNvSpPr>
          <p:nvPr/>
        </p:nvSpPr>
        <p:spPr bwMode="auto">
          <a:xfrm>
            <a:off x="0" y="2362200"/>
            <a:ext cx="7315200" cy="2286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6888" name="Rectangle 2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36889" name="Rectangle 2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1371600" y="6248400"/>
            <a:ext cx="7620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031058CC-169A-2947-9A7F-A5C10C414957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36890" name="Rectangle 26"/>
          <p:cNvSpPr>
            <a:spLocks noGrp="1" noChangeArrowheads="1"/>
          </p:cNvSpPr>
          <p:nvPr>
            <p:ph type="dt" sz="half" idx="2"/>
          </p:nvPr>
        </p:nvSpPr>
        <p:spPr>
          <a:xfrm>
            <a:off x="304800" y="6248400"/>
            <a:ext cx="1066800" cy="24765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BD55C04C-C53D-A44E-B33B-9F5F688B23F4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40913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89B6CA48-1149-F544-9BDA-4EA7F8664963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2641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196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196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AA3B8998-95C3-5E45-AD3E-13837F194790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98087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フッター プレースホルダー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8" name="スライド番号プレースホルダー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8DE418FE-4ED0-7942-A2B2-555EE65BD4B1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9" name="日付プレースホルダー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891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12F279DD-60A8-F741-A8EE-566571A95677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8293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D602A1A8-C935-1346-ABF5-47C66B2D8A94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7716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3;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77A03F71-EFC8-4A44-BAEB-E8CEADBD138B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7671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A05E6EB1-521A-B041-B829-60B1411B64D5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724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3;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46BE4CF4-CF2D-D942-A0D0-40489F9C785B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0193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762000"/>
            <a:ext cx="2057400" cy="52578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762000"/>
            <a:ext cx="6019800" cy="525780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9E351E6B-5643-AB40-A231-D7273EB39335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57944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タイトル、テキスト、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685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196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グラフ プレースホルダー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4196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0"/>
          </p:nvPr>
        </p:nvSpPr>
        <p:spPr>
          <a:xfrm>
            <a:off x="5715000" y="152400"/>
            <a:ext cx="3276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>
          <a:xfrm>
            <a:off x="1371600" y="6324600"/>
            <a:ext cx="762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F60E523B-2E78-0843-8B9D-7A4DACFE5642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2"/>
          </p:nvPr>
        </p:nvSpPr>
        <p:spPr>
          <a:xfrm>
            <a:off x="228600" y="6324600"/>
            <a:ext cx="1066800" cy="24765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0152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タイトルと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685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グラフ プレースホルダー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>
          <a:xfrm>
            <a:off x="5715000" y="152400"/>
            <a:ext cx="3276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>
          <a:xfrm>
            <a:off x="1371600" y="6324600"/>
            <a:ext cx="762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DB56448A-5B35-7E45-AAC4-936E1F5C6AFC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>
          <a:xfrm>
            <a:off x="228600" y="6324600"/>
            <a:ext cx="1066800" cy="24765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97709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タイトルと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685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表プレースホルダー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>
          <a:xfrm>
            <a:off x="5715000" y="152400"/>
            <a:ext cx="3276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>
          <a:xfrm>
            <a:off x="1371600" y="6324600"/>
            <a:ext cx="762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  - </a:t>
            </a:r>
            <a:fld id="{A55574B7-58B7-F547-9F3E-42F6EDF282B7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>
          <a:xfrm>
            <a:off x="228600" y="6324600"/>
            <a:ext cx="1066800" cy="24765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5941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584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2400">
                <a:latin typeface="Times New Roman" charset="0"/>
                <a:ea typeface="Osaka" charset="-128"/>
              </a:endParaRPr>
            </a:p>
          </p:txBody>
        </p:sp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2400">
                <a:latin typeface="Times New Roman" charset="0"/>
                <a:ea typeface="Osaka" charset="-128"/>
              </a:endParaRPr>
            </a:p>
          </p:txBody>
        </p:sp>
        <p:sp>
          <p:nvSpPr>
            <p:cNvPr id="3584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hlink"/>
                </a:solidFill>
                <a:latin typeface="Arial" charset="0"/>
                <a:ea typeface="Osaka" charset="-128"/>
              </a:endParaRPr>
            </a:p>
          </p:txBody>
        </p:sp>
        <p:sp>
          <p:nvSpPr>
            <p:cNvPr id="3584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hlink"/>
                </a:solidFill>
                <a:latin typeface="Arial" charset="0"/>
                <a:ea typeface="Osaka" charset="-128"/>
              </a:endParaRPr>
            </a:p>
          </p:txBody>
        </p:sp>
        <p:sp>
          <p:nvSpPr>
            <p:cNvPr id="3584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accent2"/>
                </a:solidFill>
                <a:latin typeface="Arial" charset="0"/>
                <a:ea typeface="Osaka" charset="-128"/>
              </a:endParaRPr>
            </a:p>
          </p:txBody>
        </p:sp>
        <p:sp>
          <p:nvSpPr>
            <p:cNvPr id="3585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hlink"/>
                </a:solidFill>
                <a:latin typeface="Arial" charset="0"/>
                <a:ea typeface="Osaka" charset="-128"/>
              </a:endParaRPr>
            </a:p>
          </p:txBody>
        </p:sp>
        <p:sp>
          <p:nvSpPr>
            <p:cNvPr id="3585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2400">
                <a:latin typeface="Times New Roman" charset="0"/>
                <a:ea typeface="Osaka" charset="-128"/>
              </a:endParaRPr>
            </a:p>
          </p:txBody>
        </p:sp>
        <p:sp>
          <p:nvSpPr>
            <p:cNvPr id="3585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accent2"/>
                </a:solidFill>
                <a:latin typeface="Arial" charset="0"/>
                <a:ea typeface="Osaka" charset="-128"/>
              </a:endParaRPr>
            </a:p>
          </p:txBody>
        </p:sp>
        <p:sp>
          <p:nvSpPr>
            <p:cNvPr id="3585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x-none" altLang="x-none" sz="1800">
                <a:solidFill>
                  <a:schemeClr val="accent2"/>
                </a:solidFill>
                <a:latin typeface="Arial" charset="0"/>
                <a:ea typeface="Osaka" charset="-128"/>
              </a:endParaRPr>
            </a:p>
          </p:txBody>
        </p:sp>
      </p:grp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0" y="6248400"/>
            <a:ext cx="8305800" cy="3048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15000" y="152400"/>
            <a:ext cx="3276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200">
                <a:latin typeface="+mn-lt"/>
                <a:ea typeface="+mn-ea"/>
              </a:defRPr>
            </a:lvl1pPr>
          </a:lstStyle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371600" y="6324600"/>
            <a:ext cx="762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800">
                <a:latin typeface="Arial" charset="0"/>
                <a:ea typeface="+mn-ea"/>
              </a:defRPr>
            </a:lvl1pPr>
          </a:lstStyle>
          <a:p>
            <a:r>
              <a:rPr lang="en-US" altLang="ja-JP"/>
              <a:t>  - </a:t>
            </a:r>
            <a:fld id="{A845DCA8-CDAD-6A41-83FA-AFFAFA618E66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35854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2000"/>
            <a:ext cx="8229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35855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58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0668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800">
                <a:latin typeface="+mn-lt"/>
                <a:ea typeface="+mn-ea"/>
              </a:defRPr>
            </a:lvl1pPr>
          </a:lstStyle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35857" name="WordArt 17"/>
          <p:cNvSpPr>
            <a:spLocks noChangeArrowheads="1" noChangeShapeType="1"/>
          </p:cNvSpPr>
          <p:nvPr/>
        </p:nvSpPr>
        <p:spPr bwMode="auto">
          <a:xfrm>
            <a:off x="3949700" y="6565900"/>
            <a:ext cx="4356100" cy="139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charset="2"/>
              <a:buNone/>
            </a:pPr>
            <a:r>
              <a:rPr lang="en-US" altLang="ja-JP" sz="900" b="1" kern="10">
                <a:solidFill>
                  <a:srgbClr val="336699"/>
                </a:solidFill>
                <a:effectLst>
                  <a:outerShdw blurRad="63500" dist="46662" dir="2115817" algn="ctr" rotWithShape="0">
                    <a:srgbClr val="C0C0C0">
                      <a:alpha val="74998"/>
                    </a:srgbClr>
                  </a:outerShdw>
                </a:effectLst>
                <a:latin typeface="New York" charset="0"/>
                <a:ea typeface="New York" charset="0"/>
                <a:cs typeface="New York" charset="0"/>
              </a:rPr>
              <a:t>Department of Materials Science and Engineering, Kyoto University</a:t>
            </a:r>
            <a:endParaRPr lang="ja-JP" altLang="en-US" sz="900" b="1" kern="10">
              <a:solidFill>
                <a:srgbClr val="336699"/>
              </a:solidFill>
              <a:effectLst>
                <a:outerShdw blurRad="63500" dist="46662" dir="2115817" algn="ctr" rotWithShape="0">
                  <a:srgbClr val="C0C0C0">
                    <a:alpha val="74998"/>
                  </a:srgbClr>
                </a:outerShdw>
              </a:effectLst>
              <a:latin typeface="New York" charset="0"/>
              <a:ea typeface="New York" charset="0"/>
              <a:cs typeface="New York" charset="0"/>
            </a:endParaRPr>
          </a:p>
        </p:txBody>
      </p:sp>
      <p:pic>
        <p:nvPicPr>
          <p:cNvPr id="35858" name="Picture 18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813" y="6126163"/>
            <a:ext cx="661987" cy="6556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charset="0"/>
          <a:ea typeface="Osaka" charset="-128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charset="0"/>
          <a:ea typeface="Osaka" charset="-128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charset="0"/>
          <a:ea typeface="Osaka" charset="-128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charset="0"/>
          <a:ea typeface="Osaka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charset="0"/>
          <a:ea typeface="Osaka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charset="0"/>
          <a:ea typeface="Osaka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charset="0"/>
          <a:ea typeface="Osaka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charset="0"/>
          <a:ea typeface="Osaka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charset="2"/>
        <a:buChar char="n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Osaka" charset="-128"/>
        <a:buChar char="■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Osaka" charset="-128"/>
        <a:buChar char="■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Osaka" charset="-128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22.x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mlDrawing" Target="../drawings/vmlDrawing2.vml"/><Relationship Id="rId1" Type="http://schemas.openxmlformats.org/officeDocument/2006/relationships/themeOverride" Target="../theme/themeOverride23.x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mlDrawing" Target="../drawings/vmlDrawing3.vml"/><Relationship Id="rId1" Type="http://schemas.openxmlformats.org/officeDocument/2006/relationships/themeOverride" Target="../theme/themeOverride24.x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mlDrawing" Target="../drawings/vmlDrawing4.vml"/><Relationship Id="rId1" Type="http://schemas.openxmlformats.org/officeDocument/2006/relationships/themeOverride" Target="../theme/themeOverride25.x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4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x-none">
                <a:solidFill>
                  <a:schemeClr val="tx1"/>
                </a:solidFill>
                <a:latin typeface="Osaka−等幅" charset="-128"/>
                <a:ea typeface="Osaka−等幅" charset="-128"/>
              </a:rPr>
              <a:t>「プレゼンテーションの</a:t>
            </a:r>
            <a:r>
              <a:rPr kumimoji="1" lang="ja-JP" altLang="en-US">
                <a:solidFill>
                  <a:schemeClr val="tx1"/>
                </a:solidFill>
                <a:latin typeface="Osaka−等幅" charset="-128"/>
                <a:ea typeface="Osaka−等幅" charset="-128"/>
              </a:rPr>
              <a:t>極意</a:t>
            </a:r>
            <a:r>
              <a:rPr kumimoji="1" lang="ja-JP" altLang="x-none">
                <a:solidFill>
                  <a:schemeClr val="tx1"/>
                </a:solidFill>
                <a:latin typeface="Osaka−等幅" charset="-128"/>
                <a:ea typeface="Osaka−等幅" charset="-128"/>
              </a:rPr>
              <a:t>」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2743200"/>
            <a:ext cx="7772400" cy="3352800"/>
          </a:xfrm>
        </p:spPr>
        <p:txBody>
          <a:bodyPr/>
          <a:lstStyle/>
          <a:p>
            <a:r>
              <a:rPr kumimoji="1" lang="ja-JP" altLang="ja-JP" dirty="0">
                <a:latin typeface="ヒラギノ丸ゴ Pro W4" charset="-128"/>
                <a:ea typeface="ヒラギノ丸ゴ Pro W4" charset="-128"/>
              </a:rPr>
              <a:t>西谷滋人：工学部材料工学専攻</a:t>
            </a:r>
          </a:p>
          <a:p>
            <a:endParaRPr kumimoji="1" lang="ja-JP" altLang="ja-JP" dirty="0">
              <a:latin typeface="ヒラギノ丸ゴ Pro W4" charset="-128"/>
              <a:ea typeface="ヒラギノ丸ゴ Pro W4" charset="-128"/>
            </a:endParaRPr>
          </a:p>
          <a:p>
            <a:r>
              <a:rPr kumimoji="1" lang="ja-JP" altLang="ja-JP" dirty="0">
                <a:latin typeface="ヒラギノ丸ゴ Pro W4" charset="-128"/>
                <a:ea typeface="ヒラギノ丸ゴ Pro W4" charset="-128"/>
              </a:rPr>
              <a:t>専門：計算材料学（金属組織，量子力学）</a:t>
            </a:r>
          </a:p>
          <a:p>
            <a:r>
              <a:rPr kumimoji="1" lang="ja-JP" altLang="ja-JP" dirty="0">
                <a:latin typeface="ヒラギノ丸ゴ Pro W4" charset="-128"/>
                <a:ea typeface="ヒラギノ丸ゴ Pro W4" charset="-128"/>
              </a:rPr>
              <a:t>1988年：大学院卒業，助手採用</a:t>
            </a:r>
          </a:p>
          <a:p>
            <a:r>
              <a:rPr kumimoji="1" lang="ja-JP" altLang="ja-JP" dirty="0">
                <a:latin typeface="ヒラギノ丸ゴ Pro W4" charset="-128"/>
                <a:ea typeface="ヒラギノ丸ゴ Pro W4" charset="-128"/>
              </a:rPr>
              <a:t>Mac歴15年，ネット･サーバ管理</a:t>
            </a:r>
            <a:endParaRPr kumimoji="1" lang="ja-JP" altLang="ja-JP" dirty="0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83873FDE-DA61-D146-B5BF-EC1C8901641D}" type="slidenum">
              <a:rPr lang="en-US" altLang="ja-JP"/>
              <a:pPr/>
              <a:t>2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/>
          <a:lstStyle/>
          <a:p>
            <a:r>
              <a:rPr kumimoji="1" lang="ja-JP" altLang="en-US">
                <a:latin typeface="Osaka−等幅" charset="-128"/>
                <a:ea typeface="Osaka−等幅" charset="-128"/>
              </a:rPr>
              <a:t>わかっちゃいるけど．．．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1" lang="ja-JP" altLang="x-none" sz="2600">
                <a:latin typeface="Osaka−等幅" charset="-128"/>
                <a:ea typeface="Osaka−等幅" charset="-128"/>
              </a:rPr>
              <a:t>「分かりやすい説明」をすればいい</a:t>
            </a:r>
            <a:endParaRPr kumimoji="1" lang="ja-JP" altLang="ja-JP" sz="2600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600">
                <a:latin typeface="Osaka−等幅" charset="-128"/>
                <a:ea typeface="Osaka−等幅" charset="-128"/>
              </a:rPr>
              <a:t>こころがまえはわかるが，具体的なテクニックは？</a:t>
            </a:r>
            <a:endParaRPr kumimoji="1" lang="ja-JP" altLang="ja-JP" sz="26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聞</a:t>
            </a:r>
            <a:r>
              <a:rPr kumimoji="1" lang="ja-JP" altLang="ja-JP" sz="2400">
                <a:latin typeface="Osaka−等幅" charset="-128"/>
                <a:ea typeface="Osaka−等幅" charset="-128"/>
              </a:rPr>
              <a:t>き手の身になって</a:t>
            </a: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ビジュアルでインパクトのある</a:t>
            </a:r>
            <a:r>
              <a:rPr kumimoji="1" lang="ja-JP" altLang="en-US" sz="2400">
                <a:latin typeface="Osaka−等幅" charset="-128"/>
                <a:ea typeface="Osaka−等幅" charset="-128"/>
              </a:rPr>
              <a:t>スライド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人に聞いてもらう，練習が大事</a:t>
            </a:r>
            <a:r>
              <a:rPr kumimoji="1" lang="ja-JP" altLang="en-US" sz="2400">
                <a:latin typeface="Osaka−等幅" charset="-128"/>
                <a:ea typeface="Osaka−等幅" charset="-128"/>
              </a:rPr>
              <a:t>，．．．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600">
                <a:latin typeface="Osaka−等幅" charset="-128"/>
                <a:ea typeface="Osaka−等幅" charset="-128"/>
              </a:rPr>
              <a:t>プロのプレゼン．</a:t>
            </a:r>
            <a:endParaRPr kumimoji="1" lang="ja-JP" altLang="ja-JP" sz="26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流暢な話し方，上手な説明，そつのない振る舞い，切れ者に見える．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2">
              <a:lnSpc>
                <a:spcPct val="90000"/>
              </a:lnSpc>
            </a:pPr>
            <a:r>
              <a:rPr kumimoji="1" lang="ja-JP" altLang="x-none" sz="2000">
                <a:solidFill>
                  <a:srgbClr val="FF89CC"/>
                </a:solidFill>
                <a:latin typeface="Osaka−等幅" charset="-128"/>
                <a:ea typeface="Osaka−等幅" charset="-128"/>
              </a:rPr>
              <a:t>本当</a:t>
            </a:r>
            <a:r>
              <a:rPr kumimoji="1" lang="ja-JP" altLang="ja-JP" sz="2000">
                <a:solidFill>
                  <a:srgbClr val="FF89CC"/>
                </a:solidFill>
                <a:latin typeface="Osaka−等幅" charset="-128"/>
                <a:ea typeface="Osaka−等幅" charset="-128"/>
              </a:rPr>
              <a:t>の目標は</a:t>
            </a:r>
            <a:r>
              <a:rPr kumimoji="1" lang="x-none" altLang="ja-JP" sz="2000">
                <a:solidFill>
                  <a:srgbClr val="FF89CC"/>
                </a:solidFill>
                <a:latin typeface="Osaka−等幅" charset="-128"/>
                <a:ea typeface="Osaka−等幅" charset="-128"/>
              </a:rPr>
              <a:t>?</a:t>
            </a:r>
            <a:endParaRPr kumimoji="1" lang="ja-JP" altLang="ja-JP" sz="2000">
              <a:solidFill>
                <a:srgbClr val="FF89CC"/>
              </a:solidFill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600">
                <a:latin typeface="Osaka−等幅" charset="-128"/>
                <a:ea typeface="Osaka−等幅" charset="-128"/>
              </a:rPr>
              <a:t>面白い学生は面白いプレゼンテーションをする．</a:t>
            </a:r>
            <a:endParaRPr kumimoji="1" lang="ja-JP" altLang="ja-JP" sz="26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センスがないとどうしようも無いのか??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2">
              <a:lnSpc>
                <a:spcPct val="90000"/>
              </a:lnSpc>
            </a:pPr>
            <a:r>
              <a:rPr kumimoji="1" lang="ja-JP" altLang="en-US" sz="2000">
                <a:solidFill>
                  <a:srgbClr val="FF89CC"/>
                </a:solidFill>
                <a:latin typeface="Osaka−等幅" charset="-128"/>
                <a:ea typeface="Osaka−等幅" charset="-128"/>
              </a:rPr>
              <a:t>理屈でプレゼンをうまく</a:t>
            </a:r>
            <a:r>
              <a:rPr kumimoji="1" lang="ja-JP" altLang="x-none" sz="2000">
                <a:solidFill>
                  <a:srgbClr val="FF89CC"/>
                </a:solidFill>
                <a:latin typeface="Osaka−等幅" charset="-128"/>
                <a:ea typeface="Osaka−等幅" charset="-128"/>
              </a:rPr>
              <a:t>でき</a:t>
            </a:r>
            <a:r>
              <a:rPr kumimoji="1" lang="ja-JP" altLang="en-US" sz="2000">
                <a:solidFill>
                  <a:srgbClr val="FF89CC"/>
                </a:solidFill>
                <a:latin typeface="Osaka−等幅" charset="-128"/>
                <a:ea typeface="Osaka−等幅" charset="-128"/>
              </a:rPr>
              <a:t>ないの？</a:t>
            </a:r>
            <a:endParaRPr kumimoji="1" lang="en-US" altLang="x-none" sz="2000">
              <a:solidFill>
                <a:srgbClr val="FF89CC"/>
              </a:solidFill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7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7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7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7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7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7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6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4461ACC9-30A1-E14E-A4C9-B250D1FA9BBE}" type="slidenum">
              <a:rPr lang="en-US" altLang="ja-JP"/>
              <a:pPr/>
              <a:t>3</a:t>
            </a:fld>
            <a:endParaRPr lang="en-US" altLang="ja-JP"/>
          </a:p>
        </p:txBody>
      </p:sp>
      <p:sp>
        <p:nvSpPr>
          <p:cNvPr id="7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/>
          <a:lstStyle/>
          <a:p>
            <a:r>
              <a:rPr lang="ja-JP" altLang="en-US" sz="3200">
                <a:latin typeface="Osaka" charset="-128"/>
              </a:rPr>
              <a:t>基本の「き」</a:t>
            </a:r>
            <a:endParaRPr lang="ja-JP" altLang="en-US" sz="3200">
              <a:solidFill>
                <a:srgbClr val="000000"/>
              </a:solidFill>
              <a:latin typeface="Osaka" charset="-128"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87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ja-JP" altLang="en-US" sz="2200" b="1"/>
              <a:t>目的</a:t>
            </a:r>
            <a:endParaRPr lang="ja-JP" altLang="en-US" sz="2600"/>
          </a:p>
          <a:p>
            <a:pPr lvl="1">
              <a:lnSpc>
                <a:spcPct val="90000"/>
              </a:lnSpc>
            </a:pPr>
            <a:r>
              <a:rPr lang="ja-JP" altLang="en-US" sz="2000"/>
              <a:t>なんのためのプレゼンテーションか？　</a:t>
            </a:r>
          </a:p>
          <a:p>
            <a:pPr lvl="2">
              <a:lnSpc>
                <a:spcPct val="90000"/>
              </a:lnSpc>
            </a:pPr>
            <a:r>
              <a:rPr lang="ja-JP" altLang="en-US" sz="1800"/>
              <a:t>自分のアイデアを説明？</a:t>
            </a:r>
          </a:p>
          <a:p>
            <a:pPr lvl="2">
              <a:lnSpc>
                <a:spcPct val="90000"/>
              </a:lnSpc>
            </a:pPr>
            <a:r>
              <a:rPr lang="ja-JP" altLang="en-US" sz="1800"/>
              <a:t>何かを報告？ </a:t>
            </a:r>
          </a:p>
          <a:p>
            <a:pPr lvl="2">
              <a:lnSpc>
                <a:spcPct val="90000"/>
              </a:lnSpc>
            </a:pPr>
            <a:r>
              <a:rPr lang="ja-JP" altLang="en-US" sz="1800"/>
              <a:t>最も言いたいことはなにか？ </a:t>
            </a:r>
          </a:p>
          <a:p>
            <a:pPr lvl="2">
              <a:lnSpc>
                <a:spcPct val="90000"/>
              </a:lnSpc>
            </a:pPr>
            <a:r>
              <a:rPr lang="ja-JP" altLang="en-US" sz="1800"/>
              <a:t>どのデータを使うのが効果的か？ </a:t>
            </a:r>
          </a:p>
          <a:p>
            <a:pPr>
              <a:lnSpc>
                <a:spcPct val="90000"/>
              </a:lnSpc>
            </a:pPr>
            <a:r>
              <a:rPr lang="ja-JP" altLang="en-US" sz="2200" b="1"/>
              <a:t>聞き手</a:t>
            </a:r>
            <a:r>
              <a:rPr lang="ja-JP" altLang="en-US" sz="2200"/>
              <a:t> </a:t>
            </a:r>
          </a:p>
          <a:p>
            <a:pPr lvl="1">
              <a:lnSpc>
                <a:spcPct val="90000"/>
              </a:lnSpc>
            </a:pPr>
            <a:r>
              <a:rPr lang="ja-JP" altLang="en-US" sz="2000"/>
              <a:t>誰に対するプレゼンテーションか？　</a:t>
            </a:r>
          </a:p>
          <a:p>
            <a:pPr lvl="2">
              <a:lnSpc>
                <a:spcPct val="90000"/>
              </a:lnSpc>
            </a:pPr>
            <a:r>
              <a:rPr lang="ja-JP" altLang="en-US" sz="1800"/>
              <a:t>同僚？　上司？</a:t>
            </a:r>
          </a:p>
          <a:p>
            <a:pPr lvl="2">
              <a:lnSpc>
                <a:spcPct val="90000"/>
              </a:lnSpc>
            </a:pPr>
            <a:r>
              <a:rPr lang="ja-JP" altLang="en-US" sz="1800"/>
              <a:t>話す内容についての、聞き手の知識のレベルは？ </a:t>
            </a:r>
          </a:p>
          <a:p>
            <a:pPr lvl="2">
              <a:lnSpc>
                <a:spcPct val="90000"/>
              </a:lnSpc>
            </a:pPr>
            <a:r>
              <a:rPr lang="ja-JP" altLang="en-US" sz="1800"/>
              <a:t>聞き手に興味をもってもらうには？ </a:t>
            </a:r>
          </a:p>
          <a:p>
            <a:pPr>
              <a:lnSpc>
                <a:spcPct val="90000"/>
              </a:lnSpc>
            </a:pPr>
            <a:r>
              <a:rPr lang="ja-JP" altLang="en-US" sz="2200" b="1"/>
              <a:t>環境</a:t>
            </a:r>
            <a:r>
              <a:rPr lang="ja-JP" altLang="en-US" sz="2200"/>
              <a:t> </a:t>
            </a:r>
          </a:p>
          <a:p>
            <a:pPr lvl="1">
              <a:lnSpc>
                <a:spcPct val="90000"/>
              </a:lnSpc>
            </a:pPr>
            <a:r>
              <a:rPr lang="ja-JP" altLang="en-US" sz="2000"/>
              <a:t>発表時間 </a:t>
            </a:r>
          </a:p>
          <a:p>
            <a:pPr lvl="1">
              <a:lnSpc>
                <a:spcPct val="90000"/>
              </a:lnSpc>
            </a:pPr>
            <a:r>
              <a:rPr lang="ja-JP" altLang="en-US" sz="2000"/>
              <a:t>設備（投影・音響）</a:t>
            </a:r>
            <a:endParaRPr lang="en-US" altLang="x-none" sz="2000"/>
          </a:p>
        </p:txBody>
      </p:sp>
      <p:sp>
        <p:nvSpPr>
          <p:cNvPr id="141317" name="Text Box 5"/>
          <p:cNvSpPr txBox="1">
            <a:spLocks noChangeArrowheads="1"/>
          </p:cNvSpPr>
          <p:nvPr/>
        </p:nvSpPr>
        <p:spPr bwMode="auto">
          <a:xfrm>
            <a:off x="2895600" y="609600"/>
            <a:ext cx="546735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charset="2"/>
              <a:buNone/>
            </a:pPr>
            <a:r>
              <a:rPr kumimoji="0" lang="ja-JP" altLang="en-US" sz="3200">
                <a:latin typeface="Osaka" charset="-128"/>
                <a:ea typeface="Osaka" charset="-128"/>
              </a:rPr>
              <a:t>ながら，こんな話はしません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C711EF94-D85E-5A4E-B456-07278CE7344A}" type="slidenum">
              <a:rPr lang="en-US" altLang="ja-JP"/>
              <a:pPr/>
              <a:t>4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 sz="3200">
                <a:latin typeface="Osaka−等幅" charset="-128"/>
                <a:ea typeface="Osaka−等幅" charset="-128"/>
              </a:rPr>
              <a:t>プレゼンテーションの極意（目標と内容）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524000"/>
            <a:ext cx="70104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10分の学会講演を念頭に．</a:t>
            </a:r>
          </a:p>
          <a:p>
            <a:pPr>
              <a:lnSpc>
                <a:spcPct val="9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「分かりやすい説明」の極意</a:t>
            </a:r>
          </a:p>
          <a:p>
            <a:pPr lvl="1">
              <a:lnSpc>
                <a:spcPct val="9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理屈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関西のお笑いが手本．</a:t>
            </a:r>
          </a:p>
          <a:p>
            <a:pPr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プレゼンの構成の練り方</a:t>
            </a:r>
          </a:p>
          <a:p>
            <a:pPr lvl="1"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プレゼンマップ</a:t>
            </a:r>
          </a:p>
          <a:p>
            <a:pPr>
              <a:lnSpc>
                <a:spcPct val="9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グラフ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の作成</a:t>
            </a:r>
          </a:p>
          <a:p>
            <a:pPr lvl="1"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たいしたセンスは必要ない．</a:t>
            </a:r>
          </a:p>
          <a:p>
            <a:pPr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PowerPoint=究極の選択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7D3836DC-8C36-DA42-B382-2F1BCABC15D2}" type="slidenum">
              <a:rPr lang="en-US" altLang="ja-JP"/>
              <a:pPr/>
              <a:t>5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理屈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「分かりやすい説明」の技術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2">
              <a:lnSpc>
                <a:spcPct val="12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藤沢晃治著，2002年，ブルーバックスB1387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>
              <a:lnSpc>
                <a:spcPct val="12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各ポイントの冒頭で，その骨子を短く話せ．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>
              <a:lnSpc>
                <a:spcPct val="12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ゆっくりしみ入るように話せ．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>
              <a:lnSpc>
                <a:spcPct val="12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ポイントを話した直後は「間」を置け．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51595506-F48A-8B4B-8A61-32013DBA8CAB}" type="slidenum">
              <a:rPr lang="en-US" altLang="ja-JP"/>
              <a:pPr/>
              <a:t>6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229600" cy="914400"/>
          </a:xfrm>
        </p:spPr>
        <p:txBody>
          <a:bodyPr/>
          <a:lstStyle/>
          <a:p>
            <a:r>
              <a:rPr kumimoji="1" lang="ja-JP" altLang="x-none" sz="3200">
                <a:latin typeface="ヒラギノ明朝 Pro W6" charset="-128"/>
                <a:ea typeface="ヒラギノ明朝 Pro W6" charset="-128"/>
              </a:rPr>
              <a:t>認知科学からみた「分かる」ということ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229600" cy="3581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1" lang="ja-JP" altLang="x-none" sz="2800">
                <a:latin typeface="Osaka−等幅" charset="-128"/>
                <a:ea typeface="Osaka−等幅" charset="-128"/>
              </a:rPr>
              <a:t>情報は短期記憶から長期記憶へ</a:t>
            </a:r>
            <a:r>
              <a:rPr kumimoji="1" lang="ja-JP" altLang="en-US" sz="2800">
                <a:latin typeface="Osaka−等幅" charset="-128"/>
                <a:ea typeface="Osaka−等幅" charset="-128"/>
              </a:rPr>
              <a:t>送られる</a:t>
            </a:r>
            <a:r>
              <a:rPr kumimoji="1" lang="ja-JP" altLang="x-none" sz="2800">
                <a:latin typeface="Osaka−等幅" charset="-128"/>
                <a:ea typeface="Osaka−等幅" charset="-128"/>
              </a:rPr>
              <a:t>．</a:t>
            </a:r>
            <a:endParaRPr kumimoji="1" lang="ja-JP" altLang="ja-JP" sz="2800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800">
                <a:latin typeface="Osaka−等幅" charset="-128"/>
                <a:ea typeface="Osaka−等幅" charset="-128"/>
              </a:rPr>
              <a:t>短期記憶</a:t>
            </a:r>
            <a:r>
              <a:rPr kumimoji="1" lang="ja-JP" altLang="en-US" sz="2800">
                <a:latin typeface="Osaka−等幅" charset="-128"/>
                <a:ea typeface="Osaka−等幅" charset="-128"/>
              </a:rPr>
              <a:t>で</a:t>
            </a:r>
            <a:r>
              <a:rPr kumimoji="1" lang="ja-JP" altLang="x-none" sz="2800">
                <a:latin typeface="Osaka−等幅" charset="-128"/>
                <a:ea typeface="Osaka−等幅" charset="-128"/>
              </a:rPr>
              <a:t>の作業項目</a:t>
            </a:r>
            <a:endParaRPr kumimoji="1" lang="ja-JP" altLang="ja-JP" sz="26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情報の大きさをチェックし，受け入れるか否かを決める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たくさんある脳内整理棚の中から適切な一個を選ぶ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情報の無駄を省き整理する．ポイントをつかむ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情報が論理的であるかチェックする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情報を入れる脳内整理棚内の最終一区画を決定する．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258CD6DA-98A6-E648-9656-8D9983F77679}" type="slidenum">
              <a:rPr lang="en-US" altLang="ja-JP"/>
              <a:pPr/>
              <a:t>7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手っ取り早いテクニック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あらかじめ情報を整理する．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比喩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箇条書き</a:t>
            </a: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視覚化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396" y="2514600"/>
            <a:ext cx="3950208" cy="3429000"/>
          </a:xfrm>
          <a:prstGeom prst="rect">
            <a:avLst/>
          </a:prstGeom>
        </p:spPr>
      </p:pic>
      <p:sp>
        <p:nvSpPr>
          <p:cNvPr id="19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20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931F7685-C5DF-B345-97DF-5D72C3701FF3}" type="slidenum">
              <a:rPr lang="en-US" altLang="ja-JP"/>
              <a:pPr/>
              <a:t>8</a:t>
            </a:fld>
            <a:endParaRPr lang="en-US" altLang="ja-JP"/>
          </a:p>
        </p:txBody>
      </p:sp>
      <p:sp>
        <p:nvSpPr>
          <p:cNvPr id="21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229600" cy="685800"/>
          </a:xfrm>
        </p:spPr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どれだけ効くか？？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685800"/>
          </a:xfrm>
        </p:spPr>
        <p:txBody>
          <a:bodyPr/>
          <a:lstStyle/>
          <a:p>
            <a:r>
              <a:rPr kumimoji="1" lang="ja-JP" altLang="x-none" sz="2800">
                <a:latin typeface="Osaka−等幅" charset="-128"/>
                <a:ea typeface="Osaka−等幅" charset="-128"/>
              </a:rPr>
              <a:t>情報は短期記憶から長期記憶へ</a:t>
            </a:r>
            <a:r>
              <a:rPr kumimoji="1" lang="ja-JP" altLang="en-US" sz="2800">
                <a:latin typeface="Osaka−等幅" charset="-128"/>
                <a:ea typeface="Osaka−等幅" charset="-128"/>
              </a:rPr>
              <a:t>送られる</a:t>
            </a:r>
            <a:r>
              <a:rPr kumimoji="1" lang="ja-JP" altLang="x-none" sz="2800">
                <a:latin typeface="Osaka−等幅" charset="-128"/>
                <a:ea typeface="Osaka−等幅" charset="-128"/>
              </a:rPr>
              <a:t>．</a:t>
            </a:r>
            <a:endParaRPr lang="ja-JP" altLang="en-US" sz="2800"/>
          </a:p>
        </p:txBody>
      </p:sp>
      <p:sp>
        <p:nvSpPr>
          <p:cNvPr id="76807" name="Text Box 7"/>
          <p:cNvSpPr txBox="1">
            <a:spLocks noChangeArrowheads="1"/>
          </p:cNvSpPr>
          <p:nvPr/>
        </p:nvSpPr>
        <p:spPr bwMode="auto">
          <a:xfrm>
            <a:off x="457200" y="2667000"/>
            <a:ext cx="3752850" cy="235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ja-JP" sz="2800"/>
              <a:t>関所の仕事</a:t>
            </a:r>
            <a:endParaRPr lang="ja-JP" altLang="x-none" sz="2800"/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800"/>
              <a:t>大きさ</a:t>
            </a:r>
            <a:r>
              <a:rPr lang="ja-JP" altLang="en-US" sz="2800"/>
              <a:t>は？</a:t>
            </a:r>
            <a:endParaRPr lang="ja-JP" altLang="ja-JP" sz="2800"/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800"/>
              <a:t>ポイント</a:t>
            </a:r>
            <a:r>
              <a:rPr lang="ja-JP" altLang="en-US" sz="2800"/>
              <a:t>は？</a:t>
            </a:r>
            <a:endParaRPr lang="ja-JP" altLang="ja-JP" sz="2800"/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en-US" sz="2800"/>
              <a:t>整合性は？</a:t>
            </a:r>
            <a:endParaRPr lang="ja-JP" altLang="ja-JP" sz="2800"/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en-US" sz="2800"/>
              <a:t>そして</a:t>
            </a:r>
            <a:r>
              <a:rPr lang="ja-JP" altLang="x-none" sz="2800"/>
              <a:t>棚を選ぶ．</a:t>
            </a:r>
            <a:endParaRPr lang="ja-JP" altLang="en-US" sz="2800"/>
          </a:p>
        </p:txBody>
      </p:sp>
      <p:grpSp>
        <p:nvGrpSpPr>
          <p:cNvPr id="76838" name="Group 38"/>
          <p:cNvGrpSpPr>
            <a:grpSpLocks/>
          </p:cNvGrpSpPr>
          <p:nvPr/>
        </p:nvGrpSpPr>
        <p:grpSpPr bwMode="auto">
          <a:xfrm>
            <a:off x="5219700" y="2438400"/>
            <a:ext cx="2628900" cy="1714500"/>
            <a:chOff x="3288" y="1536"/>
            <a:chExt cx="1656" cy="1080"/>
          </a:xfrm>
        </p:grpSpPr>
        <p:sp>
          <p:nvSpPr>
            <p:cNvPr id="76828" name="Oval 28"/>
            <p:cNvSpPr>
              <a:spLocks noChangeArrowheads="1"/>
            </p:cNvSpPr>
            <p:nvPr/>
          </p:nvSpPr>
          <p:spPr bwMode="auto">
            <a:xfrm>
              <a:off x="3288" y="1536"/>
              <a:ext cx="1632" cy="4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AAC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76829" name="Text Box 29"/>
            <p:cNvSpPr txBox="1">
              <a:spLocks noChangeArrowheads="1"/>
            </p:cNvSpPr>
            <p:nvPr/>
          </p:nvSpPr>
          <p:spPr bwMode="auto">
            <a:xfrm>
              <a:off x="3733" y="1632"/>
              <a:ext cx="692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2400">
                  <a:solidFill>
                    <a:srgbClr val="000000"/>
                  </a:solidFill>
                  <a:latin typeface="Times" charset="0"/>
                  <a:ea typeface="Osaka" charset="-128"/>
                </a:rPr>
                <a:t>整理棚</a:t>
              </a:r>
            </a:p>
          </p:txBody>
        </p:sp>
        <p:sp>
          <p:nvSpPr>
            <p:cNvPr id="76833" name="AutoShape 33"/>
            <p:cNvSpPr>
              <a:spLocks noChangeArrowheads="1"/>
            </p:cNvSpPr>
            <p:nvPr/>
          </p:nvSpPr>
          <p:spPr bwMode="auto">
            <a:xfrm rot="-4326704">
              <a:off x="4248" y="1920"/>
              <a:ext cx="792" cy="600"/>
            </a:xfrm>
            <a:prstGeom prst="curvedUpArrow">
              <a:avLst>
                <a:gd name="adj1" fmla="val 12051"/>
                <a:gd name="adj2" fmla="val 38451"/>
                <a:gd name="adj3" fmla="val 5584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</p:grpSp>
      <p:grpSp>
        <p:nvGrpSpPr>
          <p:cNvPr id="76839" name="Group 39"/>
          <p:cNvGrpSpPr>
            <a:grpSpLocks/>
          </p:cNvGrpSpPr>
          <p:nvPr/>
        </p:nvGrpSpPr>
        <p:grpSpPr bwMode="auto">
          <a:xfrm>
            <a:off x="5829300" y="3810000"/>
            <a:ext cx="1676400" cy="1524000"/>
            <a:chOff x="3672" y="2400"/>
            <a:chExt cx="1056" cy="960"/>
          </a:xfrm>
        </p:grpSpPr>
        <p:sp>
          <p:nvSpPr>
            <p:cNvPr id="76825" name="Oval 25"/>
            <p:cNvSpPr>
              <a:spLocks noChangeArrowheads="1"/>
            </p:cNvSpPr>
            <p:nvPr/>
          </p:nvSpPr>
          <p:spPr bwMode="auto">
            <a:xfrm>
              <a:off x="3672" y="2400"/>
              <a:ext cx="1056" cy="4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BFFDE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76826" name="Text Box 26"/>
            <p:cNvSpPr txBox="1">
              <a:spLocks noChangeArrowheads="1"/>
            </p:cNvSpPr>
            <p:nvPr/>
          </p:nvSpPr>
          <p:spPr bwMode="auto">
            <a:xfrm>
              <a:off x="3960" y="2496"/>
              <a:ext cx="500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2400">
                  <a:solidFill>
                    <a:srgbClr val="000000"/>
                  </a:solidFill>
                  <a:latin typeface="Times" charset="0"/>
                  <a:ea typeface="Osaka" charset="-128"/>
                </a:rPr>
                <a:t>関所</a:t>
              </a:r>
            </a:p>
          </p:txBody>
        </p:sp>
        <p:sp>
          <p:nvSpPr>
            <p:cNvPr id="76832" name="AutoShape 32"/>
            <p:cNvSpPr>
              <a:spLocks noChangeArrowheads="1"/>
            </p:cNvSpPr>
            <p:nvPr/>
          </p:nvSpPr>
          <p:spPr bwMode="auto">
            <a:xfrm>
              <a:off x="3912" y="2784"/>
              <a:ext cx="720" cy="576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</p:grpSp>
      <p:grpSp>
        <p:nvGrpSpPr>
          <p:cNvPr id="76840" name="Group 40"/>
          <p:cNvGrpSpPr>
            <a:grpSpLocks/>
          </p:cNvGrpSpPr>
          <p:nvPr/>
        </p:nvGrpSpPr>
        <p:grpSpPr bwMode="auto">
          <a:xfrm>
            <a:off x="5905500" y="5181600"/>
            <a:ext cx="1676400" cy="762000"/>
            <a:chOff x="3720" y="3264"/>
            <a:chExt cx="1056" cy="480"/>
          </a:xfrm>
        </p:grpSpPr>
        <p:sp>
          <p:nvSpPr>
            <p:cNvPr id="76821" name="Oval 21"/>
            <p:cNvSpPr>
              <a:spLocks noChangeArrowheads="1"/>
            </p:cNvSpPr>
            <p:nvPr/>
          </p:nvSpPr>
          <p:spPr bwMode="auto">
            <a:xfrm>
              <a:off x="3720" y="3264"/>
              <a:ext cx="1056" cy="48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C3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76822" name="Text Box 22"/>
            <p:cNvSpPr txBox="1">
              <a:spLocks noChangeArrowheads="1"/>
            </p:cNvSpPr>
            <p:nvPr/>
          </p:nvSpPr>
          <p:spPr bwMode="auto">
            <a:xfrm>
              <a:off x="4008" y="3360"/>
              <a:ext cx="500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2400">
                  <a:solidFill>
                    <a:srgbClr val="000000"/>
                  </a:solidFill>
                  <a:latin typeface="Times" charset="0"/>
                  <a:ea typeface="Osaka" charset="-128"/>
                </a:rPr>
                <a:t>情報</a:t>
              </a:r>
              <a:endParaRPr lang="ja-JP" altLang="en-US" sz="2400">
                <a:solidFill>
                  <a:schemeClr val="bg1"/>
                </a:solidFill>
                <a:latin typeface="Times" charset="0"/>
                <a:ea typeface="Osaka" charset="-128"/>
              </a:endParaRPr>
            </a:p>
          </p:txBody>
        </p:sp>
      </p:grpSp>
      <p:sp>
        <p:nvSpPr>
          <p:cNvPr id="76805" name="Text Box 5"/>
          <p:cNvSpPr txBox="1">
            <a:spLocks noChangeArrowheads="1"/>
          </p:cNvSpPr>
          <p:nvPr/>
        </p:nvSpPr>
        <p:spPr bwMode="auto">
          <a:xfrm rot="63570095">
            <a:off x="731838" y="4225925"/>
            <a:ext cx="7461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buClr>
                <a:schemeClr val="accent2"/>
              </a:buClr>
              <a:buSzPct val="75000"/>
              <a:buFont typeface="Osaka" charset="-128"/>
              <a:buNone/>
            </a:pPr>
            <a:r>
              <a:rPr lang="ja-JP" altLang="x-none" sz="4000">
                <a:solidFill>
                  <a:srgbClr val="FFA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ＤＦＰ太丸ゴシック体" charset="-128"/>
              </a:rPr>
              <a:t>情報は郵便番号のない郵便物</a:t>
            </a:r>
            <a:endParaRPr lang="ja-JP" altLang="en-US" sz="4000">
              <a:solidFill>
                <a:srgbClr val="FFAC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" charset="0"/>
              <a:ea typeface="ＤＦＰ太丸ゴシック体" charset="-128"/>
            </a:endParaRPr>
          </a:p>
        </p:txBody>
      </p:sp>
      <p:sp>
        <p:nvSpPr>
          <p:cNvPr id="76841" name="Text Box 41"/>
          <p:cNvSpPr txBox="1">
            <a:spLocks noChangeArrowheads="1"/>
          </p:cNvSpPr>
          <p:nvPr/>
        </p:nvSpPr>
        <p:spPr bwMode="auto">
          <a:xfrm>
            <a:off x="381000" y="1752600"/>
            <a:ext cx="792480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Tx/>
              <a:buFont typeface="Osaka" charset="-128"/>
              <a:buChar char="■"/>
            </a:pPr>
            <a:r>
              <a:rPr kumimoji="0" lang="ja-JP" altLang="en-US" sz="2800">
                <a:latin typeface="Osaka" charset="-128"/>
                <a:ea typeface="Osaka" charset="-128"/>
              </a:rPr>
              <a:t>情報は「関所」で仕分けされて「棚」に収められる．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6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6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6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6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6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6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6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 autoUpdateAnimBg="0"/>
      <p:bldP spid="76807" grpId="0" autoUpdateAnimBg="0"/>
      <p:bldP spid="76805" grpId="0" autoUpdateAnimBg="0"/>
      <p:bldP spid="7684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図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396" y="2514600"/>
            <a:ext cx="3950208" cy="3429000"/>
          </a:xfrm>
          <a:prstGeom prst="rect">
            <a:avLst/>
          </a:prstGeom>
        </p:spPr>
      </p:pic>
      <p:sp>
        <p:nvSpPr>
          <p:cNvPr id="26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27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195D7CAE-FAA5-B84D-94AB-1C9CEEDC39F5}" type="slidenum">
              <a:rPr lang="en-US" altLang="ja-JP"/>
              <a:pPr/>
              <a:t>9</a:t>
            </a:fld>
            <a:endParaRPr lang="en-US" altLang="ja-JP"/>
          </a:p>
        </p:txBody>
      </p:sp>
      <p:sp>
        <p:nvSpPr>
          <p:cNvPr id="28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どれだけ効くか？？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21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ja-JP" altLang="en-US" sz="2800"/>
              <a:t>情報は「関所」で仕分けされて「棚」に収められる．</a:t>
            </a:r>
            <a:endParaRPr kumimoji="1" lang="ja-JP" altLang="en-US">
              <a:latin typeface="Osaka−等幅" charset="-128"/>
              <a:ea typeface="Osaka−等幅" charset="-128"/>
            </a:endParaRPr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685800" y="2438400"/>
            <a:ext cx="3752850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800"/>
              <a:t>大きさ</a:t>
            </a:r>
            <a:r>
              <a:rPr lang="ja-JP" altLang="en-US" sz="2800"/>
              <a:t>は？</a:t>
            </a:r>
            <a:endParaRPr lang="ja-JP" altLang="ja-JP" sz="2800"/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800"/>
              <a:t>ポイント</a:t>
            </a:r>
            <a:r>
              <a:rPr lang="ja-JP" altLang="en-US" sz="2800"/>
              <a:t>は？</a:t>
            </a:r>
            <a:endParaRPr lang="ja-JP" altLang="ja-JP" sz="2800"/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en-US" sz="2800"/>
              <a:t>整合性は？</a:t>
            </a:r>
            <a:endParaRPr lang="ja-JP" altLang="ja-JP" sz="2800"/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en-US" sz="2800"/>
              <a:t>そして</a:t>
            </a:r>
            <a:r>
              <a:rPr lang="ja-JP" altLang="x-none" sz="2800"/>
              <a:t>棚を選ぶ．</a:t>
            </a:r>
            <a:endParaRPr lang="ja-JP" altLang="en-US" sz="2800"/>
          </a:p>
        </p:txBody>
      </p:sp>
      <p:sp>
        <p:nvSpPr>
          <p:cNvPr id="89117" name="Text Box 29"/>
          <p:cNvSpPr txBox="1">
            <a:spLocks noChangeArrowheads="1"/>
          </p:cNvSpPr>
          <p:nvPr/>
        </p:nvSpPr>
        <p:spPr bwMode="auto">
          <a:xfrm rot="63570095">
            <a:off x="762000" y="4495800"/>
            <a:ext cx="59436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buClr>
                <a:schemeClr val="accent2"/>
              </a:buClr>
              <a:buSzPct val="75000"/>
              <a:buFont typeface="Osaka" charset="-128"/>
              <a:buNone/>
            </a:pPr>
            <a:r>
              <a:rPr lang="ja-JP" altLang="x-none" sz="3200">
                <a:solidFill>
                  <a:schemeClr val="folHlink"/>
                </a:solidFill>
                <a:ea typeface="ＤＦＰ太丸ゴシック体" charset="-128"/>
              </a:rPr>
              <a:t>情報は郵便番号のない郵便物</a:t>
            </a:r>
            <a:endParaRPr lang="ja-JP" altLang="en-US" sz="3200">
              <a:solidFill>
                <a:srgbClr val="FF2FED"/>
              </a:solidFill>
              <a:latin typeface="Times" charset="0"/>
              <a:ea typeface="ＤＦＰ太丸ゴシック体" charset="-128"/>
            </a:endParaRPr>
          </a:p>
        </p:txBody>
      </p:sp>
      <p:grpSp>
        <p:nvGrpSpPr>
          <p:cNvPr id="89119" name="Group 31"/>
          <p:cNvGrpSpPr>
            <a:grpSpLocks/>
          </p:cNvGrpSpPr>
          <p:nvPr/>
        </p:nvGrpSpPr>
        <p:grpSpPr bwMode="auto">
          <a:xfrm>
            <a:off x="152400" y="1828800"/>
            <a:ext cx="8382000" cy="4495800"/>
            <a:chOff x="96" y="1152"/>
            <a:chExt cx="5280" cy="2832"/>
          </a:xfrm>
        </p:grpSpPr>
        <p:sp>
          <p:nvSpPr>
            <p:cNvPr id="89109" name="Oval 21"/>
            <p:cNvSpPr>
              <a:spLocks noChangeArrowheads="1"/>
            </p:cNvSpPr>
            <p:nvPr/>
          </p:nvSpPr>
          <p:spPr bwMode="auto">
            <a:xfrm>
              <a:off x="288" y="1344"/>
              <a:ext cx="2160" cy="1440"/>
            </a:xfrm>
            <a:prstGeom prst="ellipse">
              <a:avLst/>
            </a:prstGeom>
            <a:noFill/>
            <a:ln w="76200">
              <a:solidFill>
                <a:srgbClr val="FF8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89110" name="Text Box 22"/>
            <p:cNvSpPr txBox="1">
              <a:spLocks noChangeArrowheads="1"/>
            </p:cNvSpPr>
            <p:nvPr/>
          </p:nvSpPr>
          <p:spPr bwMode="auto">
            <a:xfrm>
              <a:off x="96" y="2496"/>
              <a:ext cx="1396" cy="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4000">
                  <a:solidFill>
                    <a:srgbClr val="FFAC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" charset="0"/>
                  <a:ea typeface="Osaka" charset="-128"/>
                </a:rPr>
                <a:t>箇条書き</a:t>
              </a:r>
              <a:endParaRPr lang="ja-JP" altLang="en-US" sz="4000">
                <a:solidFill>
                  <a:srgbClr val="FF2FED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" charset="0"/>
                <a:ea typeface="Osaka" charset="-128"/>
              </a:endParaRPr>
            </a:p>
          </p:txBody>
        </p:sp>
        <p:sp>
          <p:nvSpPr>
            <p:cNvPr id="89115" name="Oval 27"/>
            <p:cNvSpPr>
              <a:spLocks noChangeArrowheads="1"/>
            </p:cNvSpPr>
            <p:nvPr/>
          </p:nvSpPr>
          <p:spPr bwMode="auto">
            <a:xfrm>
              <a:off x="2544" y="1152"/>
              <a:ext cx="2832" cy="2832"/>
            </a:xfrm>
            <a:prstGeom prst="ellipse">
              <a:avLst/>
            </a:prstGeom>
            <a:noFill/>
            <a:ln w="76200">
              <a:solidFill>
                <a:srgbClr val="FF8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89116" name="Text Box 28"/>
            <p:cNvSpPr txBox="1">
              <a:spLocks noChangeArrowheads="1"/>
            </p:cNvSpPr>
            <p:nvPr/>
          </p:nvSpPr>
          <p:spPr bwMode="auto">
            <a:xfrm>
              <a:off x="2448" y="1248"/>
              <a:ext cx="1079" cy="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4000" b="1">
                  <a:solidFill>
                    <a:srgbClr val="FFAC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" charset="0"/>
                  <a:ea typeface="Osaka" charset="-128"/>
                </a:rPr>
                <a:t>視覚化</a:t>
              </a:r>
            </a:p>
          </p:txBody>
        </p:sp>
        <p:sp>
          <p:nvSpPr>
            <p:cNvPr id="89112" name="Oval 24"/>
            <p:cNvSpPr>
              <a:spLocks noChangeArrowheads="1"/>
            </p:cNvSpPr>
            <p:nvPr/>
          </p:nvSpPr>
          <p:spPr bwMode="auto">
            <a:xfrm>
              <a:off x="1104" y="2832"/>
              <a:ext cx="1920" cy="1104"/>
            </a:xfrm>
            <a:prstGeom prst="ellipse">
              <a:avLst/>
            </a:prstGeom>
            <a:noFill/>
            <a:ln w="76200">
              <a:solidFill>
                <a:srgbClr val="FF8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89113" name="Text Box 25"/>
            <p:cNvSpPr txBox="1">
              <a:spLocks noChangeArrowheads="1"/>
            </p:cNvSpPr>
            <p:nvPr/>
          </p:nvSpPr>
          <p:spPr bwMode="auto">
            <a:xfrm>
              <a:off x="1824" y="3360"/>
              <a:ext cx="756" cy="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en-US" sz="4000">
                  <a:solidFill>
                    <a:srgbClr val="FFAC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" charset="0"/>
                  <a:ea typeface="Osaka" charset="-128"/>
                </a:rPr>
                <a:t>比喩</a:t>
              </a:r>
              <a:endParaRPr lang="ja-JP" altLang="en-US" sz="4000">
                <a:solidFill>
                  <a:srgbClr val="FF2FED"/>
                </a:solidFill>
                <a:latin typeface="Times" charset="0"/>
                <a:ea typeface="Osaka" charset="-128"/>
              </a:endParaRPr>
            </a:p>
          </p:txBody>
        </p:sp>
      </p:grp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9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9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9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9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9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59B5CA63-D28A-3B46-9B52-8FA535078031}" type="slidenum">
              <a:rPr lang="en-US" altLang="ja-JP"/>
              <a:pPr/>
              <a:t>10</a:t>
            </a:fld>
            <a:endParaRPr lang="en-US" altLang="ja-JP"/>
          </a:p>
        </p:txBody>
      </p:sp>
      <p:sp>
        <p:nvSpPr>
          <p:cNvPr id="10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「分かりやすい説明」の極意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x-none">
                <a:latin typeface="ヒラギノ明朝 Pro W3" charset="-128"/>
                <a:ea typeface="ヒラギノ明朝 Pro W3" charset="-128"/>
              </a:rPr>
              <a:t>各ポイントの冒頭で，その骨子を短く話せ．</a:t>
            </a:r>
            <a:br>
              <a:rPr kumimoji="1" lang="ja-JP" altLang="x-none">
                <a:latin typeface="ヒラギノ明朝 Pro W3" charset="-128"/>
                <a:ea typeface="ヒラギノ明朝 Pro W3" charset="-128"/>
              </a:rPr>
            </a:br>
            <a:endParaRPr kumimoji="1" lang="ja-JP" altLang="ja-JP">
              <a:latin typeface="ヒラギノ明朝 Pro W3" charset="-128"/>
              <a:ea typeface="ヒラギノ明朝 Pro W3" charset="-128"/>
            </a:endParaRPr>
          </a:p>
          <a:p>
            <a:r>
              <a:rPr kumimoji="1" lang="ja-JP" altLang="x-none">
                <a:latin typeface="ヒラギノ明朝 Pro W3" charset="-128"/>
                <a:ea typeface="ヒラギノ明朝 Pro W3" charset="-128"/>
              </a:rPr>
              <a:t>ゆっくりしみ入るように話せ．</a:t>
            </a:r>
            <a:br>
              <a:rPr kumimoji="1" lang="ja-JP" altLang="x-none">
                <a:latin typeface="ヒラギノ明朝 Pro W3" charset="-128"/>
                <a:ea typeface="ヒラギノ明朝 Pro W3" charset="-128"/>
              </a:rPr>
            </a:br>
            <a:endParaRPr kumimoji="1" lang="ja-JP" altLang="ja-JP">
              <a:latin typeface="ヒラギノ明朝 Pro W3" charset="-128"/>
              <a:ea typeface="ヒラギノ明朝 Pro W3" charset="-128"/>
            </a:endParaRPr>
          </a:p>
          <a:p>
            <a:r>
              <a:rPr kumimoji="1" lang="ja-JP" altLang="x-none">
                <a:latin typeface="ヒラギノ明朝 Pro W3" charset="-128"/>
                <a:ea typeface="ヒラギノ明朝 Pro W3" charset="-128"/>
              </a:rPr>
              <a:t>ポイントを話した直後は「間」を置け．</a:t>
            </a:r>
            <a:br>
              <a:rPr kumimoji="1" lang="ja-JP" altLang="x-none">
                <a:latin typeface="Osaka−等幅" charset="-128"/>
                <a:ea typeface="Osaka−等幅" charset="-128"/>
              </a:rPr>
            </a:br>
            <a:endParaRPr kumimoji="1" lang="ja-JP" altLang="x-none">
              <a:latin typeface="Osaka−等幅" charset="-128"/>
              <a:ea typeface="Osaka−等幅" charset="-128"/>
            </a:endParaRP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6096000" y="2057400"/>
            <a:ext cx="15605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x-none" sz="3600" b="1">
                <a:solidFill>
                  <a:srgbClr val="FFA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つかみ</a:t>
            </a:r>
            <a:endParaRPr lang="ja-JP" altLang="en-US" sz="3600" b="1">
              <a:solidFill>
                <a:srgbClr val="FFAC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6326" name="Text Box 6"/>
          <p:cNvSpPr txBox="1">
            <a:spLocks noChangeArrowheads="1"/>
          </p:cNvSpPr>
          <p:nvPr/>
        </p:nvSpPr>
        <p:spPr bwMode="auto">
          <a:xfrm>
            <a:off x="5105400" y="3048000"/>
            <a:ext cx="33956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ja-JP" sz="3600" b="1">
                <a:solidFill>
                  <a:srgbClr val="FFA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ぼけとつっこみ</a:t>
            </a:r>
            <a:endParaRPr lang="ja-JP" altLang="en-US" sz="3600" b="1">
              <a:solidFill>
                <a:srgbClr val="FFAC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4495800" y="4191000"/>
            <a:ext cx="11017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ja-JP" sz="3600" b="1">
                <a:solidFill>
                  <a:srgbClr val="FFA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おち</a:t>
            </a:r>
            <a:endParaRPr lang="ja-JP" altLang="en-US" sz="3600" b="1">
              <a:solidFill>
                <a:srgbClr val="FFAC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1752600" y="4953000"/>
            <a:ext cx="3851275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ja-JP" altLang="ja-JP" sz="4800" b="1">
                <a:solidFill>
                  <a:srgbClr val="FFA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関西のお笑い</a:t>
            </a:r>
            <a:endParaRPr lang="ja-JP" altLang="en-US" sz="3600" b="1">
              <a:solidFill>
                <a:srgbClr val="FFAC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utoUpdateAnimBg="0"/>
      <p:bldP spid="56326" grpId="0" autoUpdateAnimBg="0"/>
      <p:bldP spid="56327" grpId="0" autoUpdateAnimBg="0"/>
      <p:bldP spid="5632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69EDD42D-0962-7649-9DB1-D8A673793513}" type="slidenum">
              <a:rPr lang="en-US" altLang="ja-JP"/>
              <a:pPr/>
              <a:t>11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学会発表での比喩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品位</a:t>
            </a:r>
          </a:p>
          <a:p>
            <a:pPr lvl="1"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お笑いではだめ．</a:t>
            </a:r>
          </a:p>
          <a:p>
            <a:pPr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もっと(論理が)複雑．</a:t>
            </a:r>
          </a:p>
          <a:p>
            <a:pPr lvl="1"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下手な比喩は，かえって誤解．</a:t>
            </a:r>
          </a:p>
          <a:p>
            <a:pPr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ならば，学会の常識を使うべし．</a:t>
            </a:r>
          </a:p>
          <a:p>
            <a:pPr lvl="1"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演繹，帰納</a:t>
            </a:r>
          </a:p>
          <a:p>
            <a:pPr lvl="1"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発展，包含</a:t>
            </a:r>
          </a:p>
          <a:p>
            <a:pPr lvl="1"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比較，対照</a:t>
            </a:r>
          </a:p>
          <a:p>
            <a:pPr lvl="1"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同等，異質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6ADC1879-3C77-0540-8632-287C51A99CE5}" type="slidenum">
              <a:rPr lang="en-US" altLang="ja-JP"/>
              <a:pPr/>
              <a:t>12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テクニック：あらかじめ情報を整理</a:t>
            </a:r>
            <a:endParaRPr kumimoji="1" lang="ja-JP" altLang="ja-JP" sz="2800">
              <a:latin typeface="Osaka−等幅" charset="-128"/>
              <a:ea typeface="Osaka−等幅" charset="-128"/>
            </a:endParaRP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chemeClr val="accent2"/>
              </a:buClr>
              <a:buFont typeface="Osaka" charset="-128"/>
              <a:buChar char="■"/>
            </a:pPr>
            <a:r>
              <a:rPr kumimoji="1" lang="ja-JP" altLang="x-none" sz="2800">
                <a:latin typeface="Osaka−等幅" charset="-128"/>
                <a:ea typeface="Osaka−等幅" charset="-128"/>
              </a:rPr>
              <a:t>比喩</a:t>
            </a:r>
            <a:endParaRPr kumimoji="1" lang="ja-JP" altLang="x-none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  <a:buSzPct val="90000"/>
            </a:pPr>
            <a:r>
              <a:rPr kumimoji="1" lang="ja-JP" altLang="ja-JP" sz="2400">
                <a:latin typeface="Osaka−等幅" charset="-128"/>
                <a:ea typeface="Osaka−等幅" charset="-128"/>
              </a:rPr>
              <a:t>最も強力</a:t>
            </a:r>
          </a:p>
          <a:p>
            <a:pPr>
              <a:lnSpc>
                <a:spcPct val="90000"/>
              </a:lnSpc>
              <a:buClr>
                <a:schemeClr val="accent2"/>
              </a:buClr>
              <a:buFont typeface="Osaka" charset="-128"/>
              <a:buChar char="■"/>
            </a:pPr>
            <a:r>
              <a:rPr kumimoji="1" lang="ja-JP" altLang="x-none" sz="2800">
                <a:latin typeface="Osaka−等幅" charset="-128"/>
                <a:ea typeface="Osaka−等幅" charset="-128"/>
              </a:rPr>
              <a:t>箇条書き</a:t>
            </a:r>
            <a:endParaRPr kumimoji="1" lang="ja-JP" altLang="x-none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  <a:buSzPct val="90000"/>
            </a:pPr>
            <a:r>
              <a:rPr kumimoji="1" lang="ja-JP" altLang="ja-JP" sz="2400">
                <a:latin typeface="Osaka−等幅" charset="-128"/>
                <a:ea typeface="Osaka−等幅" charset="-128"/>
              </a:rPr>
              <a:t>主旨と結論が</a:t>
            </a:r>
          </a:p>
          <a:p>
            <a:pPr lvl="2">
              <a:lnSpc>
                <a:spcPct val="90000"/>
              </a:lnSpc>
              <a:buClr>
                <a:schemeClr val="accent2"/>
              </a:buClr>
              <a:buSzPct val="90000"/>
              <a:buFont typeface="Osaka" charset="-128"/>
              <a:buChar char="■"/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記憶に残りやすい</a:t>
            </a:r>
          </a:p>
          <a:p>
            <a:pPr lvl="2">
              <a:lnSpc>
                <a:spcPct val="90000"/>
              </a:lnSpc>
              <a:buClr>
                <a:schemeClr val="accent2"/>
              </a:buClr>
              <a:buSzPct val="90000"/>
              <a:buFont typeface="Osaka" charset="-128"/>
              <a:buChar char="■"/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理解度が高まる</a:t>
            </a:r>
          </a:p>
          <a:p>
            <a:pPr lvl="2">
              <a:lnSpc>
                <a:spcPct val="90000"/>
              </a:lnSpc>
              <a:buClr>
                <a:schemeClr val="accent2"/>
              </a:buClr>
              <a:buSzPct val="90000"/>
              <a:buFont typeface="Osaka" charset="-128"/>
              <a:buChar char="■"/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短時間で伝わる</a:t>
            </a:r>
            <a:endParaRPr kumimoji="1" lang="ja-JP" altLang="en-US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  <a:buClr>
                <a:schemeClr val="accent2"/>
              </a:buClr>
              <a:buFont typeface="Osaka" charset="-128"/>
              <a:buChar char="■"/>
            </a:pPr>
            <a:r>
              <a:rPr kumimoji="1" lang="ja-JP" altLang="x-none" sz="2800">
                <a:latin typeface="Osaka−等幅" charset="-128"/>
                <a:ea typeface="Osaka−等幅" charset="-128"/>
              </a:rPr>
              <a:t>視覚化</a:t>
            </a:r>
            <a:endParaRPr kumimoji="1" lang="ja-JP" altLang="x-none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  <a:buSzPct val="90000"/>
            </a:pPr>
            <a:r>
              <a:rPr kumimoji="1" lang="ja-JP" altLang="ja-JP" sz="2400">
                <a:latin typeface="Osaka−等幅" charset="-128"/>
                <a:ea typeface="Osaka−等幅" charset="-128"/>
              </a:rPr>
              <a:t>目に焼き付ける．</a:t>
            </a:r>
          </a:p>
          <a:p>
            <a:pPr lvl="1">
              <a:lnSpc>
                <a:spcPct val="90000"/>
              </a:lnSpc>
              <a:buSzPct val="90000"/>
            </a:pPr>
            <a:r>
              <a:rPr kumimoji="1" lang="ja-JP" altLang="ja-JP" sz="2400">
                <a:latin typeface="Osaka−等幅" charset="-128"/>
                <a:ea typeface="Osaka−等幅" charset="-128"/>
              </a:rPr>
              <a:t>「読ませる」から「見せて」，「魅せる」へ．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68C8EC66-BCC9-564C-8D43-776916E39E33}" type="slidenum">
              <a:rPr lang="en-US" altLang="ja-JP"/>
              <a:pPr/>
              <a:t>13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 sz="4400">
                <a:latin typeface="Osaka−等幅" charset="-128"/>
                <a:ea typeface="Osaka−等幅" charset="-128"/>
              </a:rPr>
              <a:t>プレゼンマップ</a:t>
            </a:r>
            <a:r>
              <a:rPr kumimoji="1" lang="ja-JP" altLang="x-none" sz="4400">
                <a:latin typeface="Osaka−等幅" charset="-128"/>
                <a:ea typeface="Osaka−等幅" charset="-128"/>
              </a:rPr>
              <a:t>[II]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kumimoji="1" lang="ja-JP" altLang="x-none" sz="3400">
                <a:latin typeface="Osaka−等幅" charset="-128"/>
                <a:ea typeface="Osaka−等幅" charset="-128"/>
              </a:rPr>
              <a:t>「分かりやすい説明」の</a:t>
            </a:r>
            <a:r>
              <a:rPr kumimoji="1" lang="ja-JP" altLang="ja-JP" sz="3400">
                <a:latin typeface="Osaka−等幅" charset="-128"/>
                <a:ea typeface="Osaka−等幅" charset="-128"/>
              </a:rPr>
              <a:t>理屈</a:t>
            </a:r>
          </a:p>
          <a:p>
            <a:pPr lvl="2">
              <a:lnSpc>
                <a:spcPct val="110000"/>
              </a:lnSpc>
              <a:buClr>
                <a:schemeClr val="accent2"/>
              </a:buClr>
            </a:pPr>
            <a:r>
              <a:rPr kumimoji="1" lang="ja-JP" altLang="en-US">
                <a:latin typeface="Osaka−等幅" charset="-128"/>
                <a:ea typeface="Osaka−等幅" charset="-128"/>
              </a:rPr>
              <a:t>比喩，</a:t>
            </a:r>
            <a:r>
              <a:rPr kumimoji="1" lang="en-US" altLang="x-none">
                <a:latin typeface="Osaka−等幅" charset="-128"/>
                <a:ea typeface="Osaka−等幅" charset="-128"/>
              </a:rPr>
              <a:t>箇条書き</a:t>
            </a:r>
            <a:r>
              <a:rPr kumimoji="1" lang="ja-JP" altLang="en-US">
                <a:latin typeface="Osaka−等幅" charset="-128"/>
                <a:ea typeface="Osaka−等幅" charset="-128"/>
              </a:rPr>
              <a:t>，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視覚化</a:t>
            </a:r>
            <a:endParaRPr kumimoji="1" lang="ja-JP" altLang="ja-JP">
              <a:solidFill>
                <a:srgbClr val="FFAAC9"/>
              </a:solidFill>
              <a:latin typeface="Osaka−等幅" charset="-128"/>
              <a:ea typeface="Osaka−等幅" charset="-128"/>
            </a:endParaRPr>
          </a:p>
          <a:p>
            <a:pPr>
              <a:lnSpc>
                <a:spcPct val="110000"/>
              </a:lnSpc>
            </a:pPr>
            <a:r>
              <a:rPr kumimoji="1" lang="ja-JP" altLang="ja-JP" sz="3400">
                <a:solidFill>
                  <a:srgbClr val="FFFD00"/>
                </a:solidFill>
                <a:latin typeface="Osaka−等幅" charset="-128"/>
                <a:ea typeface="Osaka−等幅" charset="-128"/>
              </a:rPr>
              <a:t>プレゼンの構成の練り方</a:t>
            </a:r>
            <a:endParaRPr kumimoji="1" lang="ja-JP" altLang="ja-JP" sz="3400">
              <a:latin typeface="Osaka−等幅" charset="-128"/>
              <a:ea typeface="Osaka−等幅" charset="-128"/>
            </a:endParaRPr>
          </a:p>
          <a:p>
            <a:pPr>
              <a:lnSpc>
                <a:spcPct val="110000"/>
              </a:lnSpc>
            </a:pPr>
            <a:r>
              <a:rPr kumimoji="1" lang="ja-JP" altLang="x-none" sz="3400">
                <a:latin typeface="Osaka−等幅" charset="-128"/>
                <a:ea typeface="Osaka−等幅" charset="-128"/>
              </a:rPr>
              <a:t>グラフ</a:t>
            </a:r>
            <a:r>
              <a:rPr kumimoji="1" lang="ja-JP" altLang="ja-JP" sz="3400">
                <a:latin typeface="Osaka−等幅" charset="-128"/>
                <a:ea typeface="Osaka−等幅" charset="-128"/>
              </a:rPr>
              <a:t>の作成</a:t>
            </a:r>
          </a:p>
          <a:p>
            <a:pPr>
              <a:lnSpc>
                <a:spcPct val="110000"/>
              </a:lnSpc>
            </a:pPr>
            <a:r>
              <a:rPr kumimoji="1" lang="ja-JP" altLang="ja-JP" sz="3400">
                <a:latin typeface="Osaka−等幅" charset="-128"/>
                <a:ea typeface="Osaka−等幅" charset="-128"/>
              </a:rPr>
              <a:t>PowerPoint=究極の選択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7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20E0ACFA-76B3-204A-826C-2B1ADFA6FFE1}" type="slidenum">
              <a:rPr lang="en-US" altLang="ja-JP"/>
              <a:pPr/>
              <a:t>14</a:t>
            </a:fld>
            <a:endParaRPr lang="en-US" altLang="ja-JP"/>
          </a:p>
        </p:txBody>
      </p:sp>
      <p:sp>
        <p:nvSpPr>
          <p:cNvPr id="8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 sz="4400">
                <a:latin typeface="ＤＦＰ太丸ゴシック体" charset="-128"/>
                <a:ea typeface="ＤＦＰ太丸ゴシック体" charset="-128"/>
              </a:rPr>
              <a:t>起承転結</a:t>
            </a:r>
            <a:r>
              <a:rPr kumimoji="1" lang="ja-JP" altLang="ja-JP" sz="4400">
                <a:latin typeface="ＤＦＰ太丸ゴシック体" charset="-128"/>
                <a:ea typeface="ＤＦＰ太丸ゴシック体" charset="-128"/>
              </a:rPr>
              <a:t>？</a:t>
            </a:r>
            <a:endParaRPr kumimoji="1" lang="ja-JP" altLang="ja-JP" sz="3300">
              <a:latin typeface="Osaka−等幅" charset="-128"/>
              <a:ea typeface="Osaka−等幅" charset="-128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Climax order</a:t>
            </a:r>
            <a:r>
              <a:rPr kumimoji="1" lang="ja-JP" altLang="x-none" sz="2800">
                <a:latin typeface="Osaka−等幅" charset="-128"/>
                <a:ea typeface="Osaka−等幅" charset="-128"/>
              </a:rPr>
              <a:t>(起承転結)</a:t>
            </a:r>
            <a:endParaRPr kumimoji="1" lang="x-none" altLang="ja-JP">
              <a:latin typeface="Osaka−等幅" charset="-128"/>
              <a:ea typeface="Osaka−等幅" charset="-128"/>
            </a:endParaRPr>
          </a:p>
          <a:p>
            <a:endParaRPr kumimoji="1" lang="x-none" altLang="ja-JP">
              <a:latin typeface="Osaka−等幅" charset="-128"/>
              <a:ea typeface="Osaka−等幅" charset="-128"/>
            </a:endParaRPr>
          </a:p>
          <a:p>
            <a:endParaRPr kumimoji="1" lang="x-none" altLang="ja-JP">
              <a:latin typeface="Osaka−等幅" charset="-128"/>
              <a:ea typeface="Osaka−等幅" charset="-128"/>
            </a:endParaRPr>
          </a:p>
          <a:p>
            <a:r>
              <a:rPr kumimoji="1" lang="ja-JP" altLang="x-none">
                <a:latin typeface="Osaka−等幅" charset="-128"/>
                <a:ea typeface="Osaka−等幅" charset="-128"/>
              </a:rPr>
              <a:t>Anti-Climax order</a:t>
            </a:r>
            <a:endParaRPr kumimoji="1" lang="x-none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1295400" y="2057400"/>
            <a:ext cx="7069138" cy="133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lnSpc>
                <a:spcPct val="100000"/>
              </a:lnSpc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800"/>
              <a:t>分析</a:t>
            </a:r>
            <a:r>
              <a:rPr lang="ja-JP" altLang="ja-JP" sz="2800"/>
              <a:t>⇒</a:t>
            </a:r>
            <a:r>
              <a:rPr lang="ja-JP" altLang="x-none" sz="2800"/>
              <a:t>結論</a:t>
            </a:r>
            <a:endParaRPr lang="ja-JP" altLang="ja-JP" sz="2800"/>
          </a:p>
          <a:p>
            <a:pPr lvl="2">
              <a:lnSpc>
                <a:spcPct val="100000"/>
              </a:lnSpc>
              <a:buSzPct val="80000"/>
            </a:pPr>
            <a:r>
              <a:rPr lang="ja-JP" altLang="x-none" sz="2400"/>
              <a:t>テーマに対して受け手の関心・知識が強い</a:t>
            </a:r>
            <a:endParaRPr lang="ja-JP" altLang="ja-JP" sz="2400"/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ja-JP" altLang="en-US" sz="2400">
              <a:latin typeface="Times" charset="0"/>
              <a:ea typeface="Osaka" charset="-128"/>
            </a:endParaRP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1295400" y="3810000"/>
            <a:ext cx="7069138" cy="133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lnSpc>
                <a:spcPct val="100000"/>
              </a:lnSpc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800"/>
              <a:t>結論の予告</a:t>
            </a:r>
            <a:r>
              <a:rPr lang="ja-JP" altLang="ja-JP" sz="2800"/>
              <a:t>⇒</a:t>
            </a:r>
            <a:r>
              <a:rPr lang="ja-JP" altLang="x-none" sz="2800"/>
              <a:t>論証</a:t>
            </a:r>
            <a:endParaRPr lang="ja-JP" altLang="ja-JP" sz="2800"/>
          </a:p>
          <a:p>
            <a:pPr lvl="2">
              <a:lnSpc>
                <a:spcPct val="100000"/>
              </a:lnSpc>
              <a:buSzPct val="80000"/>
            </a:pPr>
            <a:r>
              <a:rPr lang="ja-JP" altLang="x-none" sz="2400"/>
              <a:t>テーマに対して受け手の関心・知識が弱い</a:t>
            </a:r>
            <a:endParaRPr lang="ja-JP" altLang="ja-JP" sz="2400"/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ja-JP" altLang="en-US" sz="2400">
              <a:latin typeface="Times" charset="0"/>
              <a:ea typeface="Osaka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autoUpdateAnimBg="0"/>
      <p:bldP spid="8602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73BB51CB-C4C3-0243-A853-6D8DD8952429}" type="slidenum">
              <a:rPr lang="en-US" altLang="ja-JP"/>
              <a:pPr/>
              <a:t>15</a:t>
            </a:fld>
            <a:endParaRPr lang="en-US" altLang="ja-JP"/>
          </a:p>
        </p:txBody>
      </p:sp>
      <p:sp>
        <p:nvSpPr>
          <p:cNvPr id="9" name="日付プレースホルダー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プレゼンの流れ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(ビジネス現場での)</a:t>
            </a:r>
            <a:endParaRPr kumimoji="1" lang="ja-JP" altLang="ja-JP" sz="4000">
              <a:latin typeface="Osaka−等幅" charset="-128"/>
              <a:ea typeface="Osaka−等幅" charset="-128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kumimoji="1" lang="ja-JP" altLang="x-none" sz="2000">
                <a:latin typeface="Osaka−等幅" charset="-128"/>
                <a:ea typeface="Osaka−等幅" charset="-128"/>
              </a:rPr>
              <a:t>日本型(起承転結)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イントロダクション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序論/背景</a:t>
            </a:r>
            <a:r>
              <a:rPr kumimoji="1" lang="ja-JP" altLang="ja-JP" sz="2000">
                <a:latin typeface="Osaka−等幅" charset="-128"/>
                <a:ea typeface="Osaka−等幅" charset="-128"/>
              </a:rPr>
              <a:t>･</a:t>
            </a:r>
            <a:r>
              <a:rPr kumimoji="1" lang="ja-JP" altLang="x-none" sz="2000">
                <a:latin typeface="Osaka−等幅" charset="-128"/>
                <a:ea typeface="Osaka−等幅" charset="-128"/>
              </a:rPr>
              <a:t>環境分析</a:t>
            </a:r>
            <a:r>
              <a:rPr kumimoji="1" lang="ja-JP" altLang="ja-JP" sz="2000">
                <a:latin typeface="Osaka−等幅" charset="-128"/>
                <a:ea typeface="Osaka−等幅" charset="-128"/>
              </a:rPr>
              <a:t>(方法)</a:t>
            </a: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本論/各論</a:t>
            </a:r>
            <a:r>
              <a:rPr kumimoji="1" lang="ja-JP" altLang="ja-JP" sz="2000">
                <a:latin typeface="Osaka−等幅" charset="-128"/>
                <a:ea typeface="Osaka−等幅" charset="-128"/>
              </a:rPr>
              <a:t>･</a:t>
            </a:r>
            <a:r>
              <a:rPr kumimoji="1" lang="ja-JP" altLang="x-none" sz="2000">
                <a:latin typeface="Osaka−等幅" charset="-128"/>
                <a:ea typeface="Osaka−等幅" charset="-128"/>
              </a:rPr>
              <a:t>総論分析</a:t>
            </a:r>
            <a:r>
              <a:rPr kumimoji="1" lang="ja-JP" altLang="ja-JP" sz="2000">
                <a:latin typeface="Osaka−等幅" charset="-128"/>
                <a:ea typeface="Osaka−等幅" charset="-128"/>
              </a:rPr>
              <a:t>(結果)</a:t>
            </a:r>
            <a:endParaRPr kumimoji="1" lang="ja-JP" altLang="x-none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課題/問題点の</a:t>
            </a:r>
            <a:r>
              <a:rPr kumimoji="1" lang="ja-JP" altLang="ja-JP" sz="2000">
                <a:latin typeface="Osaka−等幅" charset="-128"/>
                <a:ea typeface="Osaka−等幅" charset="-128"/>
              </a:rPr>
              <a:t>指摘(考察)</a:t>
            </a:r>
            <a:endParaRPr kumimoji="1" lang="ja-JP" altLang="x-none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結論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質疑応答(5分)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r>
              <a:rPr kumimoji="1" lang="ja-JP" altLang="x-none" sz="2000">
                <a:latin typeface="ヒラギノ明朝 Pro W3" charset="-128"/>
                <a:ea typeface="ヒラギノ明朝 Pro W3" charset="-128"/>
              </a:rPr>
              <a:t>報告者が行ってきた思考・分析の流れをたどる</a:t>
            </a:r>
            <a:r>
              <a:rPr kumimoji="1" lang="ja-JP" altLang="ja-JP" sz="2000">
                <a:latin typeface="ヒラギノ明朝 Pro W3" charset="-128"/>
                <a:ea typeface="ヒラギノ明朝 Pro W3" charset="-128"/>
              </a:rPr>
              <a:t>．</a:t>
            </a:r>
          </a:p>
          <a:p>
            <a:r>
              <a:rPr kumimoji="1" lang="ja-JP" altLang="x-none" sz="2000">
                <a:latin typeface="ヒラギノ明朝 Pro W3" charset="-128"/>
                <a:ea typeface="ヒラギノ明朝 Pro W3" charset="-128"/>
              </a:rPr>
              <a:t>最後まで聞かないと聞く価値があるかどうかわからない</a:t>
            </a:r>
            <a:r>
              <a:rPr kumimoji="1" lang="ja-JP" altLang="ja-JP" sz="2000">
                <a:latin typeface="ヒラギノ明朝 Pro W3" charset="-128"/>
                <a:ea typeface="ヒラギノ明朝 Pro W3" charset="-128"/>
              </a:rPr>
              <a:t>．</a:t>
            </a:r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5334000" y="1828800"/>
            <a:ext cx="35052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x-none" altLang="x-none" sz="2400">
              <a:latin typeface="Times" charset="0"/>
              <a:ea typeface="Osaka" charset="-128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724400" y="1600200"/>
            <a:ext cx="4038600" cy="4419600"/>
          </a:xfrm>
        </p:spPr>
        <p:txBody>
          <a:bodyPr/>
          <a:lstStyle/>
          <a:p>
            <a:r>
              <a:rPr kumimoji="1" lang="ja-JP" altLang="x-none" sz="2000">
                <a:latin typeface="Osaka−等幅" charset="-128"/>
                <a:ea typeface="Osaka−等幅" charset="-128"/>
              </a:rPr>
              <a:t>アメリカ型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イントロダクション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全体サマリー/結論の要約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各パートのサマリー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本論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附録/補足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質疑応答(20分)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kumimoji="1" lang="ja-JP" altLang="x-none" sz="2000">
                <a:latin typeface="ヒラギノ明朝 Pro W3" charset="-128"/>
                <a:ea typeface="ヒラギノ明朝 Pro W3" charset="-128"/>
              </a:rPr>
              <a:t>聞き手の意思決定に役立つ情報を真っ先に提供</a:t>
            </a:r>
            <a:r>
              <a:rPr kumimoji="1" lang="ja-JP" altLang="ja-JP" sz="2000">
                <a:latin typeface="ヒラギノ明朝 Pro W3" charset="-128"/>
                <a:ea typeface="ヒラギノ明朝 Pro W3" charset="-128"/>
              </a:rPr>
              <a:t>．</a:t>
            </a:r>
          </a:p>
          <a:p>
            <a:pPr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kumimoji="1" lang="ja-JP" altLang="x-none" sz="2000">
                <a:latin typeface="ヒラギノ明朝 Pro W3" charset="-128"/>
                <a:ea typeface="ヒラギノ明朝 Pro W3" charset="-128"/>
              </a:rPr>
              <a:t>先ず最初に，聞く価値があるかどうかを提示</a:t>
            </a:r>
            <a:r>
              <a:rPr kumimoji="1" lang="ja-JP" altLang="ja-JP" sz="2000">
                <a:latin typeface="ヒラギノ明朝 Pro W3" charset="-128"/>
                <a:ea typeface="ヒラギノ明朝 Pro W3" charset="-128"/>
              </a:rPr>
              <a:t>．</a:t>
            </a:r>
            <a:endParaRPr lang="ja-JP" altLang="en-US" sz="2600"/>
          </a:p>
        </p:txBody>
      </p:sp>
      <p:sp>
        <p:nvSpPr>
          <p:cNvPr id="58374" name="AutoShape 6"/>
          <p:cNvSpPr>
            <a:spLocks noChangeArrowheads="1"/>
          </p:cNvSpPr>
          <p:nvPr/>
        </p:nvSpPr>
        <p:spPr bwMode="auto">
          <a:xfrm>
            <a:off x="8382000" y="2057400"/>
            <a:ext cx="609600" cy="533400"/>
          </a:xfrm>
          <a:prstGeom prst="irregularSeal1">
            <a:avLst/>
          </a:prstGeom>
          <a:solidFill>
            <a:srgbClr val="DBFF1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8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9EFB04E4-F855-5C49-AF0C-4B190F859175}" type="slidenum">
              <a:rPr lang="en-US" altLang="ja-JP"/>
              <a:pPr/>
              <a:t>16</a:t>
            </a:fld>
            <a:endParaRPr lang="en-US" altLang="ja-JP"/>
          </a:p>
        </p:txBody>
      </p:sp>
      <p:sp>
        <p:nvSpPr>
          <p:cNvPr id="9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プレゼンマップ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目的地のわからないプレゼンは聞き手を不安にさせる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目的地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ルート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所要時間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イントロの直後に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>
                <a:latin typeface="Osaka−等幅" charset="-128"/>
                <a:ea typeface="Osaka−等幅" charset="-128"/>
              </a:rPr>
              <a:t>10分の講演では必要ないかも．．．</a:t>
            </a:r>
          </a:p>
          <a:p>
            <a:pPr lvl="1">
              <a:lnSpc>
                <a:spcPct val="9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少なくとも結論の予告は必要．</a:t>
            </a:r>
            <a:endParaRPr kumimoji="1" lang="ja-JP" altLang="x-none">
              <a:latin typeface="Osaka−等幅" charset="-128"/>
              <a:ea typeface="Osaka−等幅" charset="-128"/>
            </a:endParaRP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Osaka−等幅" charset="-128"/>
                <a:ea typeface="Osaka−等幅" charset="-128"/>
              </a:rPr>
              <a:t>どこへ行く？？</a:t>
            </a:r>
          </a:p>
        </p:txBody>
      </p:sp>
      <p:grpSp>
        <p:nvGrpSpPr>
          <p:cNvPr id="59398" name="Group 6"/>
          <p:cNvGrpSpPr>
            <a:grpSpLocks/>
          </p:cNvGrpSpPr>
          <p:nvPr/>
        </p:nvGrpSpPr>
        <p:grpSpPr bwMode="auto">
          <a:xfrm>
            <a:off x="6096000" y="2819400"/>
            <a:ext cx="2590800" cy="3124200"/>
            <a:chOff x="3840" y="1776"/>
            <a:chExt cx="1632" cy="1968"/>
          </a:xfrm>
        </p:grpSpPr>
        <p:sp>
          <p:nvSpPr>
            <p:cNvPr id="59397" name="Rectangle 5"/>
            <p:cNvSpPr>
              <a:spLocks noChangeArrowheads="1"/>
            </p:cNvSpPr>
            <p:nvPr/>
          </p:nvSpPr>
          <p:spPr bwMode="auto">
            <a:xfrm>
              <a:off x="3840" y="1776"/>
              <a:ext cx="1632" cy="196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9396" name="Text Box 4"/>
            <p:cNvSpPr txBox="1">
              <a:spLocks noChangeArrowheads="1"/>
            </p:cNvSpPr>
            <p:nvPr/>
          </p:nvSpPr>
          <p:spPr bwMode="auto">
            <a:xfrm>
              <a:off x="3936" y="1872"/>
              <a:ext cx="1477" cy="183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ja-JP" altLang="ja-JP" sz="3200">
                  <a:solidFill>
                    <a:schemeClr val="tx2"/>
                  </a:solidFill>
                </a:rPr>
                <a:t>マップが</a:t>
              </a:r>
            </a:p>
            <a:p>
              <a:pPr lvl="1">
                <a:lnSpc>
                  <a:spcPct val="100000"/>
                </a:lnSpc>
                <a:buClr>
                  <a:schemeClr val="accent2"/>
                </a:buClr>
                <a:buSzPct val="75000"/>
                <a:buFont typeface="Osaka" charset="-128"/>
                <a:buChar char="■"/>
              </a:pPr>
              <a:r>
                <a:rPr lang="ja-JP" altLang="ja-JP" sz="2400">
                  <a:solidFill>
                    <a:schemeClr val="tx2"/>
                  </a:solidFill>
                </a:rPr>
                <a:t>方法</a:t>
              </a:r>
            </a:p>
            <a:p>
              <a:pPr lvl="1">
                <a:lnSpc>
                  <a:spcPct val="100000"/>
                </a:lnSpc>
                <a:buClr>
                  <a:schemeClr val="accent2"/>
                </a:buClr>
                <a:buSzPct val="75000"/>
                <a:buFont typeface="Osaka" charset="-128"/>
                <a:buChar char="■"/>
              </a:pPr>
              <a:r>
                <a:rPr lang="ja-JP" altLang="ja-JP" sz="2400">
                  <a:solidFill>
                    <a:schemeClr val="tx2"/>
                  </a:solidFill>
                </a:rPr>
                <a:t>結果</a:t>
              </a:r>
            </a:p>
            <a:p>
              <a:pPr lvl="1">
                <a:lnSpc>
                  <a:spcPct val="100000"/>
                </a:lnSpc>
                <a:buClr>
                  <a:schemeClr val="accent2"/>
                </a:buClr>
                <a:buSzPct val="75000"/>
                <a:buFont typeface="Osaka" charset="-128"/>
                <a:buChar char="■"/>
              </a:pPr>
              <a:r>
                <a:rPr lang="ja-JP" altLang="ja-JP" sz="2400">
                  <a:solidFill>
                    <a:schemeClr val="tx2"/>
                  </a:solidFill>
                </a:rPr>
                <a:t>考察</a:t>
              </a:r>
            </a:p>
            <a:p>
              <a:pPr lvl="1">
                <a:lnSpc>
                  <a:spcPct val="100000"/>
                </a:lnSpc>
                <a:buClr>
                  <a:schemeClr val="accent2"/>
                </a:buClr>
                <a:buSzPct val="75000"/>
                <a:buFont typeface="Osaka" charset="-128"/>
                <a:buChar char="■"/>
              </a:pPr>
              <a:r>
                <a:rPr lang="ja-JP" altLang="ja-JP" sz="2400">
                  <a:solidFill>
                    <a:schemeClr val="tx2"/>
                  </a:solidFill>
                </a:rPr>
                <a:t>まとめ</a:t>
              </a:r>
            </a:p>
            <a:p>
              <a:pPr>
                <a:lnSpc>
                  <a:spcPct val="100000"/>
                </a:lnSpc>
                <a:buFont typeface="Wingdings" charset="2"/>
                <a:buNone/>
              </a:pPr>
              <a:r>
                <a:rPr lang="ja-JP" altLang="ja-JP" sz="3000">
                  <a:solidFill>
                    <a:schemeClr val="tx2"/>
                  </a:solidFill>
                </a:rPr>
                <a:t>なら不要</a:t>
              </a:r>
              <a:r>
                <a:rPr lang="en-US" altLang="ja-JP" sz="3000" dirty="0">
                  <a:solidFill>
                    <a:schemeClr val="tx2"/>
                  </a:solidFill>
                </a:rPr>
                <a:t>!!</a:t>
              </a:r>
              <a:endParaRPr lang="ja-JP" altLang="en-US" sz="2000">
                <a:solidFill>
                  <a:schemeClr val="tx2"/>
                </a:solidFill>
                <a:latin typeface="Times" charset="0"/>
                <a:ea typeface="Osaka" charset="-128"/>
              </a:endParaRPr>
            </a:p>
          </p:txBody>
        </p:sp>
      </p:grp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6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36AB77A5-0168-6E4E-A822-9AB8F84A7E1A}" type="slidenum">
              <a:rPr lang="en-US" altLang="ja-JP"/>
              <a:pPr/>
              <a:t>17</a:t>
            </a:fld>
            <a:endParaRPr lang="en-US" altLang="ja-JP"/>
          </a:p>
        </p:txBody>
      </p:sp>
      <p:sp>
        <p:nvSpPr>
          <p:cNvPr id="7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ドキュメントの企画・設計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情報収集</a:t>
            </a:r>
            <a:r>
              <a:rPr kumimoji="1" lang="ja-JP" altLang="ja-JP" sz="2000">
                <a:latin typeface="Osaka−等幅" charset="-128"/>
                <a:ea typeface="Osaka−等幅" charset="-128"/>
              </a:rPr>
              <a:t>･</a:t>
            </a:r>
            <a:r>
              <a:rPr kumimoji="1" lang="ja-JP" altLang="x-none" sz="2000">
                <a:latin typeface="Osaka−等幅" charset="-128"/>
                <a:ea typeface="Osaka−等幅" charset="-128"/>
              </a:rPr>
              <a:t>整理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1800">
                <a:latin typeface="Osaka−等幅" charset="-128"/>
                <a:ea typeface="Osaka−等幅" charset="-128"/>
              </a:rPr>
              <a:t>受け手の情報分析</a:t>
            </a:r>
            <a:endParaRPr kumimoji="1" lang="ja-JP" altLang="ja-JP" sz="18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1800">
                <a:latin typeface="Osaka−等幅" charset="-128"/>
                <a:ea typeface="Osaka−等幅" charset="-128"/>
              </a:rPr>
              <a:t>伝える内容の決定</a:t>
            </a:r>
            <a:endParaRPr kumimoji="1" lang="ja-JP" altLang="ja-JP" sz="1800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企画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1800">
                <a:latin typeface="Osaka−等幅" charset="-128"/>
                <a:ea typeface="Osaka−等幅" charset="-128"/>
              </a:rPr>
              <a:t>テーマの明確化</a:t>
            </a:r>
            <a:endParaRPr kumimoji="1" lang="ja-JP" altLang="ja-JP" sz="18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1800">
                <a:latin typeface="Osaka−等幅" charset="-128"/>
                <a:ea typeface="Osaka−等幅" charset="-128"/>
              </a:rPr>
              <a:t>アウトライン(骨子)の作成</a:t>
            </a:r>
            <a:endParaRPr kumimoji="1" lang="ja-JP" altLang="ja-JP" sz="18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1800">
                <a:latin typeface="Osaka−等幅" charset="-128"/>
                <a:ea typeface="Osaka−等幅" charset="-128"/>
              </a:rPr>
              <a:t>内容の組立(ストーリー，シナリオ)</a:t>
            </a:r>
            <a:endParaRPr kumimoji="1" lang="ja-JP" altLang="ja-JP" sz="18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1800">
                <a:latin typeface="Osaka−等幅" charset="-128"/>
                <a:ea typeface="Osaka−等幅" charset="-128"/>
              </a:rPr>
              <a:t>量の調整</a:t>
            </a:r>
            <a:endParaRPr kumimoji="1" lang="ja-JP" altLang="ja-JP" sz="1800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設計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1800">
                <a:latin typeface="Osaka−等幅" charset="-128"/>
                <a:ea typeface="Osaka−等幅" charset="-128"/>
              </a:rPr>
              <a:t>ページの組立</a:t>
            </a:r>
            <a:endParaRPr kumimoji="1" lang="ja-JP" altLang="ja-JP" sz="18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1800">
                <a:latin typeface="Osaka−等幅" charset="-128"/>
                <a:ea typeface="Osaka−等幅" charset="-128"/>
              </a:rPr>
              <a:t>伝達メディアの決定</a:t>
            </a:r>
            <a:endParaRPr kumimoji="1" lang="ja-JP" altLang="ja-JP" sz="18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1800">
                <a:latin typeface="Osaka−等幅" charset="-128"/>
                <a:ea typeface="Osaka−等幅" charset="-128"/>
              </a:rPr>
              <a:t>量の調整</a:t>
            </a:r>
            <a:endParaRPr kumimoji="1" lang="ja-JP" altLang="ja-JP" sz="1800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作成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伝達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6232525" y="2849563"/>
            <a:ext cx="18415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x-none" altLang="x-none" sz="2400">
              <a:latin typeface="Times" charset="0"/>
              <a:ea typeface="Osaka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5EC32BDE-65CB-1843-8423-E55A24C61FDF}" type="slidenum">
              <a:rPr lang="en-US" altLang="ja-JP"/>
              <a:pPr/>
              <a:t>18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Osaka−等幅" charset="-128"/>
                <a:ea typeface="Osaka−等幅" charset="-128"/>
              </a:rPr>
              <a:t>私はどうやっているか？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アイデア，情報を書き散らす</a:t>
            </a:r>
            <a:r>
              <a:rPr kumimoji="1" lang="ja-JP" altLang="en-US">
                <a:latin typeface="Osaka−等幅" charset="-128"/>
                <a:ea typeface="Osaka−等幅" charset="-128"/>
              </a:rPr>
              <a:t>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r>
              <a:rPr kumimoji="1" lang="ja-JP" altLang="ja-JP">
                <a:latin typeface="Osaka−等幅" charset="-128"/>
                <a:ea typeface="Osaka−等幅" charset="-128"/>
              </a:rPr>
              <a:t>ピラミッド構造を作る．</a:t>
            </a: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関連する項目をまとめる</a:t>
            </a:r>
            <a:r>
              <a:rPr kumimoji="1" lang="ja-JP" altLang="en-US">
                <a:latin typeface="Osaka−等幅" charset="-128"/>
                <a:ea typeface="Osaka−等幅" charset="-128"/>
              </a:rPr>
              <a:t>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細かく記述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．</a:t>
            </a:r>
            <a:endParaRPr kumimoji="1" lang="ja-JP" altLang="x-none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大きくまとめ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る</a:t>
            </a:r>
            <a:r>
              <a:rPr kumimoji="1" lang="ja-JP" altLang="en-US">
                <a:latin typeface="Osaka−等幅" charset="-128"/>
                <a:ea typeface="Osaka−等幅" charset="-128"/>
              </a:rPr>
              <a:t>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r>
              <a:rPr kumimoji="1" lang="ja-JP" altLang="x-none">
                <a:latin typeface="Osaka−等幅" charset="-128"/>
                <a:ea typeface="Osaka−等幅" charset="-128"/>
              </a:rPr>
              <a:t>量を調節する</a:t>
            </a:r>
            <a:r>
              <a:rPr kumimoji="1" lang="ja-JP" altLang="en-US">
                <a:latin typeface="Osaka−等幅" charset="-128"/>
                <a:ea typeface="Osaka−等幅" charset="-128"/>
              </a:rPr>
              <a:t>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r>
              <a:rPr kumimoji="1" lang="ja-JP" altLang="ja-JP">
                <a:latin typeface="Osaka−等幅" charset="-128"/>
                <a:ea typeface="Osaka−等幅" charset="-128"/>
              </a:rPr>
              <a:t>「考える技術・書く技術」バーバラ・ミント著，ダイヤモンド社．</a:t>
            </a:r>
            <a:endParaRPr kumimoji="1" lang="ja-JP" altLang="x-none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423051D5-5A5A-964A-815C-96D3DB94AB17}" type="slidenum">
              <a:rPr lang="en-US" altLang="ja-JP"/>
              <a:pPr/>
              <a:t>19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 sz="4400">
                <a:latin typeface="Osaka−等幅" charset="-128"/>
                <a:ea typeface="Osaka−等幅" charset="-128"/>
              </a:rPr>
              <a:t>プレゼンマップ</a:t>
            </a:r>
            <a:r>
              <a:rPr kumimoji="1" lang="ja-JP" altLang="x-none" sz="4400">
                <a:latin typeface="Osaka−等幅" charset="-128"/>
                <a:ea typeface="Osaka−等幅" charset="-128"/>
              </a:rPr>
              <a:t>[III]</a:t>
            </a:r>
            <a:endParaRPr kumimoji="1" lang="ja-JP" altLang="ja-JP" sz="4400">
              <a:latin typeface="Osaka−等幅" charset="-128"/>
              <a:ea typeface="Osaka−等幅" charset="-128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kumimoji="1" lang="ja-JP" altLang="x-none" sz="3400">
                <a:latin typeface="Osaka−等幅" charset="-128"/>
                <a:ea typeface="Osaka−等幅" charset="-128"/>
              </a:rPr>
              <a:t>「分かりやすい説明」の</a:t>
            </a:r>
            <a:r>
              <a:rPr kumimoji="1" lang="ja-JP" altLang="ja-JP" sz="3400">
                <a:latin typeface="Osaka−等幅" charset="-128"/>
                <a:ea typeface="Osaka−等幅" charset="-128"/>
              </a:rPr>
              <a:t>理屈</a:t>
            </a:r>
          </a:p>
          <a:p>
            <a:pPr lvl="2">
              <a:lnSpc>
                <a:spcPct val="110000"/>
              </a:lnSpc>
              <a:buClr>
                <a:schemeClr val="accent2"/>
              </a:buClr>
            </a:pPr>
            <a:r>
              <a:rPr kumimoji="1" lang="ja-JP" altLang="en-US">
                <a:latin typeface="Osaka−等幅" charset="-128"/>
                <a:ea typeface="Osaka−等幅" charset="-128"/>
              </a:rPr>
              <a:t>比喩，</a:t>
            </a:r>
            <a:r>
              <a:rPr kumimoji="1" lang="en-US" altLang="x-none">
                <a:latin typeface="Osaka−等幅" charset="-128"/>
                <a:ea typeface="Osaka−等幅" charset="-128"/>
              </a:rPr>
              <a:t>箇条書き</a:t>
            </a:r>
            <a:r>
              <a:rPr kumimoji="1" lang="ja-JP" altLang="en-US">
                <a:latin typeface="Osaka−等幅" charset="-128"/>
                <a:ea typeface="Osaka−等幅" charset="-128"/>
              </a:rPr>
              <a:t>，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視覚化</a:t>
            </a:r>
            <a:endParaRPr kumimoji="1" lang="ja-JP" altLang="ja-JP" sz="2800">
              <a:latin typeface="Osaka−等幅" charset="-128"/>
              <a:ea typeface="Osaka−等幅" charset="-128"/>
            </a:endParaRPr>
          </a:p>
          <a:p>
            <a:pPr>
              <a:lnSpc>
                <a:spcPct val="110000"/>
              </a:lnSpc>
            </a:pPr>
            <a:r>
              <a:rPr kumimoji="1" lang="ja-JP" altLang="ja-JP" sz="3400">
                <a:solidFill>
                  <a:schemeClr val="tx2"/>
                </a:solidFill>
                <a:latin typeface="Osaka−等幅" charset="-128"/>
                <a:ea typeface="Osaka−等幅" charset="-128"/>
              </a:rPr>
              <a:t>プレゼンの構成の練り方</a:t>
            </a:r>
            <a:endParaRPr kumimoji="1" lang="ja-JP" altLang="ja-JP" sz="3400">
              <a:solidFill>
                <a:srgbClr val="FFFD00"/>
              </a:solidFill>
              <a:latin typeface="Osaka−等幅" charset="-128"/>
              <a:ea typeface="Osaka−等幅" charset="-128"/>
            </a:endParaRPr>
          </a:p>
          <a:p>
            <a:pPr lvl="1">
              <a:lnSpc>
                <a:spcPct val="11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流れ作業ではない！！</a:t>
            </a:r>
            <a:endParaRPr kumimoji="1" lang="ja-JP" altLang="ja-JP" sz="3200">
              <a:latin typeface="Osaka−等幅" charset="-128"/>
              <a:ea typeface="Osaka−等幅" charset="-128"/>
            </a:endParaRPr>
          </a:p>
          <a:p>
            <a:pPr>
              <a:lnSpc>
                <a:spcPct val="110000"/>
              </a:lnSpc>
            </a:pPr>
            <a:r>
              <a:rPr kumimoji="1" lang="ja-JP" altLang="x-none" sz="3400">
                <a:solidFill>
                  <a:srgbClr val="FFFD00"/>
                </a:solidFill>
                <a:latin typeface="Osaka−等幅" charset="-128"/>
                <a:ea typeface="Osaka−等幅" charset="-128"/>
              </a:rPr>
              <a:t>グラフ</a:t>
            </a:r>
            <a:r>
              <a:rPr kumimoji="1" lang="ja-JP" altLang="ja-JP" sz="3400">
                <a:solidFill>
                  <a:srgbClr val="FFFD00"/>
                </a:solidFill>
                <a:latin typeface="Osaka−等幅" charset="-128"/>
                <a:ea typeface="Osaka−等幅" charset="-128"/>
              </a:rPr>
              <a:t>の作成</a:t>
            </a:r>
            <a:endParaRPr kumimoji="1" lang="ja-JP" altLang="ja-JP" sz="3400">
              <a:latin typeface="Osaka−等幅" charset="-128"/>
              <a:ea typeface="Osaka−等幅" charset="-128"/>
            </a:endParaRPr>
          </a:p>
          <a:p>
            <a:pPr>
              <a:lnSpc>
                <a:spcPct val="110000"/>
              </a:lnSpc>
            </a:pPr>
            <a:r>
              <a:rPr kumimoji="1" lang="ja-JP" altLang="ja-JP" sz="3400">
                <a:latin typeface="Osaka−等幅" charset="-128"/>
                <a:ea typeface="Osaka−等幅" charset="-128"/>
              </a:rPr>
              <a:t>PowerPoint=究極の選択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F7BDDBE0-BD48-324D-BAD3-E4A1F29C3BFB}" type="slidenum">
              <a:rPr lang="en-US" altLang="ja-JP"/>
              <a:pPr/>
              <a:t>20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必要なセンス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どこがいいのかを分析する着眼点．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r>
              <a:rPr kumimoji="1" lang="ja-JP" altLang="x-none">
                <a:latin typeface="Osaka−等幅" charset="-128"/>
                <a:ea typeface="Osaka−等幅" charset="-128"/>
              </a:rPr>
              <a:t>カラー，パターン，レイアウト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ja-JP">
                <a:latin typeface="Osaka−等幅" charset="-128"/>
                <a:ea typeface="Osaka−等幅" charset="-128"/>
              </a:rPr>
              <a:t>「実践！フルカラープレゼンテーション」</a:t>
            </a:r>
            <a:br>
              <a:rPr kumimoji="1" lang="ja-JP" altLang="ja-JP">
                <a:latin typeface="Osaka−等幅" charset="-128"/>
                <a:ea typeface="Osaka−等幅" charset="-128"/>
              </a:rPr>
            </a:br>
            <a:r>
              <a:rPr kumimoji="1" lang="ja-JP" altLang="x-none">
                <a:latin typeface="Osaka−等幅" charset="-128"/>
                <a:ea typeface="Osaka−等幅" charset="-128"/>
              </a:rPr>
              <a:t>矢島隆，株・コドス著，エクスメディア2001</a:t>
            </a:r>
            <a:endParaRPr kumimoji="1" lang="x-none" altLang="ja-JP">
              <a:latin typeface="Osaka−等幅" charset="-128"/>
              <a:ea typeface="Osaka−等幅" charset="-128"/>
            </a:endParaRPr>
          </a:p>
          <a:p>
            <a:r>
              <a:rPr kumimoji="1" lang="ja-JP" altLang="x-none">
                <a:latin typeface="Osaka−等幅" charset="-128"/>
                <a:ea typeface="Osaka−等幅" charset="-128"/>
              </a:rPr>
              <a:t>ロットリングが基本(センス)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フォントの大きさ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図，文字の量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AD2FD5AC-E003-564D-98A7-291EB7203A8B}" type="slidenum">
              <a:rPr lang="en-US" altLang="ja-JP"/>
              <a:pPr/>
              <a:t>21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視覚化の勘所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kumimoji="1" lang="ja-JP" altLang="x-none" sz="2600">
                <a:latin typeface="Osaka−等幅" charset="-128"/>
                <a:ea typeface="Osaka−等幅" charset="-128"/>
              </a:rPr>
              <a:t>初対面の印象は?</a:t>
            </a:r>
            <a:endParaRPr kumimoji="1" lang="ja-JP" altLang="ja-JP" sz="26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視覚5割，声4割，内容1割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600">
                <a:latin typeface="Osaka−等幅" charset="-128"/>
                <a:ea typeface="Osaka−等幅" charset="-128"/>
              </a:rPr>
              <a:t>認知科学的見地に基づいたセオリー</a:t>
            </a:r>
            <a:endParaRPr kumimoji="1" lang="ja-JP" altLang="ja-JP" sz="26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赤い色は注意を引く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ja-JP" sz="2400">
                <a:latin typeface="Osaka−等幅" charset="-128"/>
                <a:ea typeface="Osaka−等幅" charset="-128"/>
              </a:rPr>
              <a:t>○</a:t>
            </a:r>
            <a:r>
              <a:rPr kumimoji="1" lang="ja-JP" altLang="x-none" sz="2400">
                <a:latin typeface="Osaka−等幅" charset="-128"/>
                <a:ea typeface="Osaka−等幅" charset="-128"/>
              </a:rPr>
              <a:t>と</a:t>
            </a:r>
            <a:r>
              <a:rPr kumimoji="1" lang="ja-JP" altLang="ja-JP" sz="2400">
                <a:latin typeface="Osaka−等幅" charset="-128"/>
                <a:ea typeface="Osaka−等幅" charset="-128"/>
              </a:rPr>
              <a:t>△</a:t>
            </a:r>
            <a:r>
              <a:rPr kumimoji="1" lang="ja-JP" altLang="x-none" sz="2400">
                <a:latin typeface="Osaka−等幅" charset="-128"/>
                <a:ea typeface="Osaka−等幅" charset="-128"/>
              </a:rPr>
              <a:t>では</a:t>
            </a:r>
            <a:r>
              <a:rPr kumimoji="1" lang="ja-JP" altLang="ja-JP" sz="2400">
                <a:latin typeface="Osaka−等幅" charset="-128"/>
                <a:ea typeface="Osaka−等幅" charset="-128"/>
              </a:rPr>
              <a:t>△</a:t>
            </a:r>
            <a:r>
              <a:rPr kumimoji="1" lang="ja-JP" altLang="x-none" sz="2400">
                <a:latin typeface="Osaka−等幅" charset="-128"/>
                <a:ea typeface="Osaka−等幅" charset="-128"/>
              </a:rPr>
              <a:t>がインパクトが大きい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視線は，左から右，上から下へ流れる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600">
                <a:latin typeface="Osaka−等幅" charset="-128"/>
                <a:ea typeface="Osaka−等幅" charset="-128"/>
              </a:rPr>
              <a:t>色は</a:t>
            </a:r>
            <a:r>
              <a:rPr kumimoji="1" lang="ja-JP" altLang="ja-JP" sz="2600">
                <a:latin typeface="Osaka−等幅" charset="-128"/>
                <a:ea typeface="Osaka−等幅" charset="-128"/>
              </a:rPr>
              <a:t>すくなく！！</a:t>
            </a:r>
            <a:endParaRPr kumimoji="1" lang="ja-JP" altLang="x-none" sz="26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一画面3-4色が限度．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ポイントのみに着色．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400">
                <a:latin typeface="Osaka−等幅" charset="-128"/>
                <a:ea typeface="Osaka−等幅" charset="-128"/>
              </a:rPr>
              <a:t>迷ったら色を減らせ．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2E50B263-BFF9-524E-B5CF-6FEB628AB5FD}" type="slidenum">
              <a:rPr lang="en-US" altLang="ja-JP"/>
              <a:pPr/>
              <a:t>22</a:t>
            </a:fld>
            <a:endParaRPr lang="en-US" altLang="ja-JP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まずいグラフ</a:t>
            </a:r>
          </a:p>
        </p:txBody>
      </p:sp>
      <p:graphicFrame>
        <p:nvGraphicFramePr>
          <p:cNvPr id="94220" name="Object 12"/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4989513" y="2003425"/>
          <a:ext cx="3352800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24" name="グラフ" r:id="rId4" imgW="3962400" imgH="4267200" progId="MSGraph.Chart.8">
                  <p:embed followColorScheme="full"/>
                </p:oleObj>
              </mc:Choice>
              <mc:Fallback>
                <p:oleObj name="グラフ" r:id="rId4" imgW="3962400" imgH="4267200" progId="MSGraph.Chart.8">
                  <p:embed followColorScheme="full"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513" y="2003425"/>
                        <a:ext cx="3352800" cy="360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2" name="Rectangle 1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ja-JP" altLang="en-US" sz="2600"/>
              <a:t>フォントが小さい</a:t>
            </a:r>
          </a:p>
          <a:p>
            <a:r>
              <a:rPr lang="ja-JP" altLang="en-US" sz="2600"/>
              <a:t>マーカーが小さい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E9AAB9EC-190D-3C43-897D-F56633E4684D}" type="slidenum">
              <a:rPr lang="en-US" altLang="ja-JP"/>
              <a:pPr/>
              <a:t>23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graphicFrame>
        <p:nvGraphicFramePr>
          <p:cNvPr id="112649" name="Object 9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-838200" y="838200"/>
          <a:ext cx="10363200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1" name="グラフ" r:id="rId4" imgW="3962400" imgH="4267200" progId="MSGraph.Chart.8">
                  <p:embed followColorScheme="full"/>
                </p:oleObj>
              </mc:Choice>
              <mc:Fallback>
                <p:oleObj name="グラフ" r:id="rId4" imgW="3962400" imgH="4267200" progId="MSGraph.Chart.8">
                  <p:embed followColorScheme="full"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838200" y="838200"/>
                        <a:ext cx="10363200" cy="533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685800"/>
          </a:xfrm>
        </p:spPr>
        <p:txBody>
          <a:bodyPr/>
          <a:lstStyle/>
          <a:p>
            <a:r>
              <a:rPr kumimoji="1" lang="ja-JP" altLang="ja-JP" sz="2800">
                <a:latin typeface="Osaka−等幅" charset="-128"/>
                <a:ea typeface="Osaka−等幅" charset="-128"/>
              </a:rPr>
              <a:t>大きければいいというものでも．．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CA9BA168-5C1A-8741-A00B-29D72DB49BFF}" type="slidenum">
              <a:rPr lang="en-US" altLang="ja-JP"/>
              <a:pPr/>
              <a:t>24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適正なグラフ（１）</a:t>
            </a:r>
          </a:p>
        </p:txBody>
      </p:sp>
      <p:graphicFrame>
        <p:nvGraphicFramePr>
          <p:cNvPr id="115725" name="Object 13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1817688" y="1600200"/>
          <a:ext cx="5507037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27" name="グラフ" r:id="rId4" imgW="5600700" imgH="4495800" progId="MSGraph.Chart.8">
                  <p:embed followColorScheme="full"/>
                </p:oleObj>
              </mc:Choice>
              <mc:Fallback>
                <p:oleObj name="グラフ" r:id="rId4" imgW="5600700" imgH="4495800" progId="MSGraph.Chart.8">
                  <p:embed followColorScheme="full"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8" y="1600200"/>
                        <a:ext cx="5507037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4786B5FB-7E11-F04D-B6AC-9054E47838E8}" type="slidenum">
              <a:rPr lang="en-US" altLang="ja-JP"/>
              <a:pPr/>
              <a:t>25</a:t>
            </a:fld>
            <a:endParaRPr lang="en-US" altLang="ja-JP"/>
          </a:p>
        </p:txBody>
      </p:sp>
      <p:sp>
        <p:nvSpPr>
          <p:cNvPr id="10" name="日付プレースホルダー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適正なグラフ（２）</a:t>
            </a:r>
          </a:p>
        </p:txBody>
      </p:sp>
      <p:graphicFrame>
        <p:nvGraphicFramePr>
          <p:cNvPr id="119812" name="Object 4"/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4114800" y="1600200"/>
          <a:ext cx="4953000" cy="397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19" name="グラフ" r:id="rId4" imgW="5600700" imgH="4495800" progId="MSGraph.Chart.8">
                  <p:embed followColorScheme="full"/>
                </p:oleObj>
              </mc:Choice>
              <mc:Fallback>
                <p:oleObj name="グラフ" r:id="rId4" imgW="5600700" imgH="4495800" progId="MSGraph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600200"/>
                        <a:ext cx="4953000" cy="397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3" name="Rectangle 5"/>
          <p:cNvSpPr>
            <a:spLocks noChangeArrowheads="1"/>
          </p:cNvSpPr>
          <p:nvPr/>
        </p:nvSpPr>
        <p:spPr bwMode="auto">
          <a:xfrm>
            <a:off x="152400" y="1981200"/>
            <a:ext cx="39624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600">
                <a:solidFill>
                  <a:schemeClr val="tx1"/>
                </a:solidFill>
                <a:latin typeface="Osaka" charset="-128"/>
                <a:ea typeface="Osaka" charset="-128"/>
              </a:defRPr>
            </a:lvl1pPr>
            <a:lvl2pPr marL="742950" indent="-285750">
              <a:buClr>
                <a:schemeClr val="accent2"/>
              </a:buClr>
              <a:buSzPct val="75000"/>
              <a:buFont typeface="Osaka" charset="-128"/>
              <a:buChar char="■"/>
              <a:defRPr sz="2400">
                <a:solidFill>
                  <a:schemeClr val="tx1"/>
                </a:solidFill>
                <a:latin typeface="Osaka" charset="-128"/>
                <a:ea typeface="Osaka" charset="-128"/>
              </a:defRPr>
            </a:lvl2pPr>
            <a:lvl3pPr marL="1143000" indent="-228600">
              <a:buSzPct val="80000"/>
              <a:defRPr sz="2000">
                <a:solidFill>
                  <a:schemeClr val="tx1"/>
                </a:solidFill>
                <a:latin typeface="Osaka" charset="-128"/>
                <a:ea typeface="Osaka" charset="-128"/>
              </a:defRPr>
            </a:lvl3pPr>
            <a:lvl4pPr marL="1600200" indent="-228600">
              <a:buClr>
                <a:schemeClr val="accent2"/>
              </a:buClr>
              <a:buSzPct val="80000"/>
              <a:buFont typeface="Osaka" charset="-128"/>
              <a:buChar char="■"/>
              <a:defRPr sz="1600">
                <a:solidFill>
                  <a:schemeClr val="tx1"/>
                </a:solidFill>
                <a:latin typeface="Osaka" charset="-128"/>
                <a:ea typeface="Osaka" charset="-128"/>
              </a:defRPr>
            </a:lvl4pPr>
            <a:lvl5pPr marL="2057400" indent="-228600">
              <a:buSzPct val="80000"/>
              <a:buFont typeface="Osaka" charset="-128"/>
              <a:buChar char="■"/>
              <a:defRPr sz="1400">
                <a:solidFill>
                  <a:schemeClr val="tx1"/>
                </a:solidFill>
                <a:latin typeface="Osaka" charset="-128"/>
                <a:ea typeface="Osaka" charset="-128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Osaka" charset="-128"/>
              <a:buChar char="■"/>
              <a:defRPr sz="1400">
                <a:solidFill>
                  <a:schemeClr val="tx1"/>
                </a:solidFill>
                <a:latin typeface="Osaka" charset="-128"/>
                <a:ea typeface="Osaka" charset="-128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Osaka" charset="-128"/>
              <a:buChar char="■"/>
              <a:defRPr sz="1400">
                <a:solidFill>
                  <a:schemeClr val="tx1"/>
                </a:solidFill>
                <a:latin typeface="Osaka" charset="-128"/>
                <a:ea typeface="Osaka" charset="-128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Osaka" charset="-128"/>
              <a:buChar char="■"/>
              <a:defRPr sz="1400">
                <a:solidFill>
                  <a:schemeClr val="tx1"/>
                </a:solidFill>
                <a:latin typeface="Osaka" charset="-128"/>
                <a:ea typeface="Osaka" charset="-128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Osaka" charset="-128"/>
              <a:buChar char="■"/>
              <a:defRPr sz="1400">
                <a:solidFill>
                  <a:schemeClr val="tx1"/>
                </a:solidFill>
                <a:latin typeface="Osaka" charset="-128"/>
                <a:ea typeface="Osaka" charset="-128"/>
              </a:defRPr>
            </a:lvl9pPr>
          </a:lstStyle>
          <a:p>
            <a:pPr>
              <a:lnSpc>
                <a:spcPct val="100000"/>
              </a:lnSpc>
            </a:pPr>
            <a:endParaRPr kumimoji="0" lang="x-none" altLang="x-none" sz="1500"/>
          </a:p>
        </p:txBody>
      </p:sp>
      <p:sp>
        <p:nvSpPr>
          <p:cNvPr id="11981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52400" y="1752600"/>
            <a:ext cx="41148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ja-JP" altLang="en-US" sz="2600"/>
              <a:t>全面に広げてはダメ．</a:t>
            </a:r>
          </a:p>
          <a:p>
            <a:pPr>
              <a:lnSpc>
                <a:spcPct val="120000"/>
              </a:lnSpc>
            </a:pPr>
            <a:r>
              <a:rPr lang="ja-JP" altLang="en-US" sz="2600"/>
              <a:t>○が楕円になってない？</a:t>
            </a:r>
          </a:p>
          <a:p>
            <a:pPr>
              <a:lnSpc>
                <a:spcPct val="120000"/>
              </a:lnSpc>
            </a:pPr>
            <a:r>
              <a:rPr lang="ja-JP" altLang="en-US" sz="2600"/>
              <a:t>フォントの大きさ．</a:t>
            </a:r>
          </a:p>
          <a:p>
            <a:pPr>
              <a:lnSpc>
                <a:spcPct val="120000"/>
              </a:lnSpc>
            </a:pPr>
            <a:r>
              <a:rPr lang="ja-JP" altLang="en-US" sz="2600"/>
              <a:t>マーカーの大きさ．</a:t>
            </a:r>
          </a:p>
          <a:p>
            <a:pPr>
              <a:lnSpc>
                <a:spcPct val="120000"/>
              </a:lnSpc>
            </a:pPr>
            <a:r>
              <a:rPr lang="ja-JP" altLang="en-US" sz="2600"/>
              <a:t>要点を横に箇条書きしてもよい．</a:t>
            </a:r>
            <a:endParaRPr lang="ja-JP" altLang="en-US"/>
          </a:p>
          <a:p>
            <a:pPr lvl="1">
              <a:lnSpc>
                <a:spcPct val="120000"/>
              </a:lnSpc>
            </a:pPr>
            <a:r>
              <a:rPr lang="ja-JP" altLang="en-US" sz="1400"/>
              <a:t>文字のサイズが</a:t>
            </a:r>
            <a:r>
              <a:rPr lang="en-US" altLang="ja-JP" sz="1400"/>
              <a:t>14p</a:t>
            </a:r>
            <a:r>
              <a:rPr lang="ja-JP" altLang="en-US" sz="1400"/>
              <a:t>まで許させるなら，相当量書き込めるが，やっぱり箇条書きがいい．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119816" name="Text Box 8"/>
          <p:cNvSpPr txBox="1">
            <a:spLocks noChangeArrowheads="1"/>
          </p:cNvSpPr>
          <p:nvPr/>
        </p:nvSpPr>
        <p:spPr bwMode="auto">
          <a:xfrm>
            <a:off x="6705600" y="3519488"/>
            <a:ext cx="1876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ja-JP" sz="200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Internal energy</a:t>
            </a:r>
          </a:p>
        </p:txBody>
      </p:sp>
      <p:sp>
        <p:nvSpPr>
          <p:cNvPr id="119817" name="Text Box 9"/>
          <p:cNvSpPr txBox="1">
            <a:spLocks noChangeArrowheads="1"/>
          </p:cNvSpPr>
          <p:nvPr/>
        </p:nvSpPr>
        <p:spPr bwMode="auto">
          <a:xfrm>
            <a:off x="6477000" y="2057400"/>
            <a:ext cx="190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ja-JP" sz="2000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rPr>
              <a:t>Surface energy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00E953BA-C50C-4B4C-9F05-DA7C86AA52B2}" type="slidenum">
              <a:rPr lang="en-US" altLang="ja-JP"/>
              <a:pPr/>
              <a:t>26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 sz="4400">
                <a:latin typeface="Osaka−等幅" charset="-128"/>
                <a:ea typeface="Osaka−等幅" charset="-128"/>
              </a:rPr>
              <a:t>プレゼンマップ</a:t>
            </a:r>
            <a:r>
              <a:rPr kumimoji="1" lang="ja-JP" altLang="x-none" sz="4400">
                <a:latin typeface="Osaka−等幅" charset="-128"/>
                <a:ea typeface="Osaka−等幅" charset="-128"/>
              </a:rPr>
              <a:t>[IV]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kumimoji="1" lang="ja-JP" altLang="x-none" sz="3400">
                <a:latin typeface="Osaka−等幅" charset="-128"/>
                <a:ea typeface="Osaka−等幅" charset="-128"/>
              </a:rPr>
              <a:t>「分かりやすい説明」の</a:t>
            </a:r>
            <a:r>
              <a:rPr kumimoji="1" lang="ja-JP" altLang="ja-JP" sz="3400">
                <a:latin typeface="Osaka−等幅" charset="-128"/>
                <a:ea typeface="Osaka−等幅" charset="-128"/>
              </a:rPr>
              <a:t>理屈</a:t>
            </a:r>
          </a:p>
          <a:p>
            <a:pPr lvl="1">
              <a:lnSpc>
                <a:spcPct val="110000"/>
              </a:lnSpc>
            </a:pPr>
            <a:r>
              <a:rPr kumimoji="1" lang="ja-JP" altLang="en-US">
                <a:latin typeface="Osaka−等幅" charset="-128"/>
                <a:ea typeface="Osaka−等幅" charset="-128"/>
              </a:rPr>
              <a:t>情報をあらかじめ整理する．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2">
              <a:lnSpc>
                <a:spcPct val="110000"/>
              </a:lnSpc>
              <a:buClr>
                <a:schemeClr val="accent2"/>
              </a:buClr>
            </a:pPr>
            <a:r>
              <a:rPr kumimoji="1" lang="ja-JP" altLang="en-US">
                <a:latin typeface="Osaka−等幅" charset="-128"/>
                <a:ea typeface="Osaka−等幅" charset="-128"/>
              </a:rPr>
              <a:t>比喩，</a:t>
            </a:r>
            <a:r>
              <a:rPr kumimoji="1" lang="en-US" altLang="x-none">
                <a:latin typeface="Osaka−等幅" charset="-128"/>
                <a:ea typeface="Osaka−等幅" charset="-128"/>
              </a:rPr>
              <a:t>箇条書き</a:t>
            </a:r>
            <a:r>
              <a:rPr kumimoji="1" lang="ja-JP" altLang="en-US">
                <a:latin typeface="Osaka−等幅" charset="-128"/>
                <a:ea typeface="Osaka−等幅" charset="-128"/>
              </a:rPr>
              <a:t>，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視覚化</a:t>
            </a:r>
            <a:endParaRPr kumimoji="1" lang="ja-JP" altLang="ja-JP" sz="2800">
              <a:latin typeface="Osaka−等幅" charset="-128"/>
              <a:ea typeface="Osaka−等幅" charset="-128"/>
            </a:endParaRPr>
          </a:p>
          <a:p>
            <a:pPr>
              <a:lnSpc>
                <a:spcPct val="110000"/>
              </a:lnSpc>
            </a:pPr>
            <a:r>
              <a:rPr kumimoji="1" lang="ja-JP" altLang="ja-JP" sz="3400">
                <a:solidFill>
                  <a:schemeClr val="tx2"/>
                </a:solidFill>
                <a:latin typeface="Osaka−等幅" charset="-128"/>
                <a:ea typeface="Osaka−等幅" charset="-128"/>
              </a:rPr>
              <a:t>プレゼンの構成の練り方</a:t>
            </a:r>
            <a:endParaRPr kumimoji="1" lang="ja-JP" altLang="ja-JP" sz="3400">
              <a:solidFill>
                <a:srgbClr val="FFFD00"/>
              </a:solidFill>
              <a:latin typeface="Osaka−等幅" charset="-128"/>
              <a:ea typeface="Osaka−等幅" charset="-128"/>
            </a:endParaRPr>
          </a:p>
          <a:p>
            <a:pPr lvl="1">
              <a:lnSpc>
                <a:spcPct val="110000"/>
              </a:lnSpc>
            </a:pPr>
            <a:r>
              <a:rPr kumimoji="1" lang="ja-JP" altLang="ja-JP">
                <a:latin typeface="Osaka−等幅" charset="-128"/>
                <a:ea typeface="Osaka−等幅" charset="-128"/>
              </a:rPr>
              <a:t>流れ作業ではない！！</a:t>
            </a:r>
            <a:endParaRPr kumimoji="1" lang="ja-JP" altLang="ja-JP" sz="3200">
              <a:latin typeface="Osaka−等幅" charset="-128"/>
              <a:ea typeface="Osaka−等幅" charset="-128"/>
            </a:endParaRPr>
          </a:p>
          <a:p>
            <a:pPr>
              <a:lnSpc>
                <a:spcPct val="110000"/>
              </a:lnSpc>
            </a:pPr>
            <a:r>
              <a:rPr kumimoji="1" lang="ja-JP" altLang="x-none" sz="3400">
                <a:latin typeface="Osaka−等幅" charset="-128"/>
                <a:ea typeface="Osaka−等幅" charset="-128"/>
              </a:rPr>
              <a:t>グラフ</a:t>
            </a:r>
            <a:r>
              <a:rPr kumimoji="1" lang="ja-JP" altLang="ja-JP" sz="3400">
                <a:latin typeface="Osaka−等幅" charset="-128"/>
                <a:ea typeface="Osaka−等幅" charset="-128"/>
              </a:rPr>
              <a:t>の作成</a:t>
            </a:r>
          </a:p>
          <a:p>
            <a:pPr>
              <a:lnSpc>
                <a:spcPct val="110000"/>
              </a:lnSpc>
            </a:pPr>
            <a:r>
              <a:rPr kumimoji="1" lang="ja-JP" altLang="ja-JP" sz="3400">
                <a:solidFill>
                  <a:srgbClr val="FFFD00"/>
                </a:solidFill>
                <a:latin typeface="Osaka−等幅" charset="-128"/>
                <a:ea typeface="Osaka−等幅" charset="-128"/>
              </a:rPr>
              <a:t>PowerPoint=究極の選択</a:t>
            </a:r>
            <a:endParaRPr kumimoji="1" lang="ja-JP" altLang="ja-JP" sz="3400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13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872FD30B-196B-6843-ABD2-E80DEDDBEB66}" type="slidenum">
              <a:rPr lang="en-US" altLang="ja-JP"/>
              <a:pPr/>
              <a:t>27</a:t>
            </a:fld>
            <a:endParaRPr lang="en-US" altLang="ja-JP"/>
          </a:p>
        </p:txBody>
      </p:sp>
      <p:sp>
        <p:nvSpPr>
          <p:cNvPr id="14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プレゼン手法の発展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733800" cy="3048000"/>
          </a:xfrm>
        </p:spPr>
        <p:txBody>
          <a:bodyPr/>
          <a:lstStyle/>
          <a:p>
            <a:r>
              <a:rPr kumimoji="1" lang="ja-JP" altLang="x-none" sz="2400">
                <a:latin typeface="Osaka−等幅" charset="-128"/>
                <a:ea typeface="Osaka−等幅" charset="-128"/>
              </a:rPr>
              <a:t>プロジェクターの変遷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1"/>
            <a:endParaRPr kumimoji="1" lang="ja-JP" altLang="x-none" sz="2000">
              <a:latin typeface="Osaka−等幅" charset="-128"/>
              <a:ea typeface="Osaka−等幅" charset="-128"/>
            </a:endParaRPr>
          </a:p>
          <a:p>
            <a:pPr lvl="1">
              <a:lnSpc>
                <a:spcPct val="8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スライド</a:t>
            </a:r>
          </a:p>
          <a:p>
            <a:pPr lvl="1"/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400">
                <a:latin typeface="Osaka−等幅" charset="-128"/>
                <a:ea typeface="Osaka−等幅" charset="-128"/>
              </a:rPr>
              <a:t>OHP</a:t>
            </a:r>
            <a:endParaRPr kumimoji="1" lang="x-none" altLang="ja-JP" sz="2400">
              <a:latin typeface="Osaka−等幅" charset="-128"/>
              <a:ea typeface="Osaka−等幅" charset="-128"/>
            </a:endParaRPr>
          </a:p>
          <a:p>
            <a:pPr lvl="1"/>
            <a:endParaRPr kumimoji="1" lang="x-none" altLang="ja-JP" sz="2000">
              <a:latin typeface="Osaka−等幅" charset="-128"/>
              <a:ea typeface="Osaka−等幅" charset="-128"/>
            </a:endParaRPr>
          </a:p>
          <a:p>
            <a:pPr lvl="1"/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ビデオ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4114800" y="1676400"/>
            <a:ext cx="2863850" cy="281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ja-JP" altLang="ja-JP" sz="2400"/>
              <a:t>スライド作成法</a:t>
            </a:r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000"/>
              <a:t>ロットリング</a:t>
            </a:r>
            <a:endParaRPr lang="ja-JP" altLang="ja-JP" sz="2000"/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000"/>
              <a:t>コピー(切り貼り)</a:t>
            </a:r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000"/>
              <a:t>白黒プリンター</a:t>
            </a:r>
            <a:endParaRPr lang="ja-JP" altLang="ja-JP" sz="2000"/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000"/>
              <a:t>カラーペン</a:t>
            </a:r>
            <a:endParaRPr lang="ja-JP" altLang="ja-JP" sz="2000"/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000"/>
              <a:t>プロッター</a:t>
            </a:r>
            <a:endParaRPr lang="ja-JP" altLang="ja-JP" sz="2000"/>
          </a:p>
          <a:p>
            <a:pPr lvl="1"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000"/>
              <a:t>カラーOHP</a:t>
            </a:r>
            <a:endParaRPr lang="ja-JP" altLang="ja-JP" sz="2400"/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ja-JP" sz="2400">
              <a:latin typeface="Times" charset="0"/>
              <a:ea typeface="Osaka" charset="-128"/>
            </a:endParaRP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3124200" y="4191000"/>
            <a:ext cx="54038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ja-JP" altLang="x-none" sz="2400"/>
              <a:t>常識のシフト</a:t>
            </a:r>
            <a:endParaRPr lang="ja-JP" altLang="ja-JP" sz="2400"/>
          </a:p>
          <a:p>
            <a:pPr lvl="1">
              <a:lnSpc>
                <a:spcPct val="100000"/>
              </a:lnSpc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000"/>
              <a:t>白地に黒</a:t>
            </a:r>
            <a:r>
              <a:rPr lang="ja-JP" altLang="en-US" sz="2000"/>
              <a:t>か，</a:t>
            </a:r>
            <a:r>
              <a:rPr lang="ja-JP" altLang="x-none" sz="2000"/>
              <a:t>黒地に白か</a:t>
            </a:r>
            <a:r>
              <a:rPr lang="ja-JP" altLang="en-US" sz="2000"/>
              <a:t>？</a:t>
            </a:r>
            <a:endParaRPr lang="ja-JP" altLang="ja-JP" sz="2000"/>
          </a:p>
          <a:p>
            <a:pPr lvl="1">
              <a:lnSpc>
                <a:spcPct val="100000"/>
              </a:lnSpc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000"/>
              <a:t>一枚</a:t>
            </a:r>
            <a:r>
              <a:rPr lang="ja-JP" altLang="ja-JP" sz="2000"/>
              <a:t>1</a:t>
            </a:r>
            <a:r>
              <a:rPr lang="ja-JP" altLang="x-none" sz="2000"/>
              <a:t>分から</a:t>
            </a:r>
            <a:r>
              <a:rPr lang="ja-JP" altLang="ja-JP" sz="2000"/>
              <a:t>2-3分．</a:t>
            </a:r>
          </a:p>
          <a:p>
            <a:pPr lvl="1">
              <a:lnSpc>
                <a:spcPct val="100000"/>
              </a:lnSpc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ja-JP" sz="2000"/>
              <a:t>キャプションの位置は常に上．</a:t>
            </a:r>
          </a:p>
          <a:p>
            <a:pPr lvl="1">
              <a:lnSpc>
                <a:spcPct val="100000"/>
              </a:lnSpc>
              <a:buClr>
                <a:schemeClr val="accent2"/>
              </a:buClr>
              <a:buSzPct val="75000"/>
              <a:buFont typeface="Osaka" charset="-128"/>
              <a:buChar char="■"/>
            </a:pPr>
            <a:r>
              <a:rPr lang="ja-JP" altLang="x-none" sz="2000"/>
              <a:t>OHP用紙</a:t>
            </a:r>
            <a:r>
              <a:rPr lang="x-none" altLang="ja-JP" sz="2000"/>
              <a:t>･copy</a:t>
            </a:r>
            <a:r>
              <a:rPr lang="ja-JP" altLang="ja-JP" sz="2000"/>
              <a:t>のむだ遣いから何枚でも</a:t>
            </a:r>
            <a:r>
              <a:rPr lang="x-none" altLang="ja-JP" sz="2000"/>
              <a:t>OK</a:t>
            </a:r>
            <a:endParaRPr lang="en-US" altLang="ja-JP" sz="2000"/>
          </a:p>
        </p:txBody>
      </p:sp>
      <p:grpSp>
        <p:nvGrpSpPr>
          <p:cNvPr id="64520" name="Group 8"/>
          <p:cNvGrpSpPr>
            <a:grpSpLocks/>
          </p:cNvGrpSpPr>
          <p:nvPr/>
        </p:nvGrpSpPr>
        <p:grpSpPr bwMode="auto">
          <a:xfrm>
            <a:off x="2286000" y="2590800"/>
            <a:ext cx="2057400" cy="1447800"/>
            <a:chOff x="1440" y="1632"/>
            <a:chExt cx="1296" cy="912"/>
          </a:xfrm>
        </p:grpSpPr>
        <p:sp>
          <p:nvSpPr>
            <p:cNvPr id="64518" name="AutoShape 6"/>
            <p:cNvSpPr>
              <a:spLocks/>
            </p:cNvSpPr>
            <p:nvPr/>
          </p:nvSpPr>
          <p:spPr bwMode="auto">
            <a:xfrm>
              <a:off x="2640" y="1632"/>
              <a:ext cx="96" cy="912"/>
            </a:xfrm>
            <a:prstGeom prst="leftBrace">
              <a:avLst>
                <a:gd name="adj1" fmla="val 7916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64519" name="AutoShape 7"/>
            <p:cNvSpPr>
              <a:spLocks noChangeArrowheads="1"/>
            </p:cNvSpPr>
            <p:nvPr/>
          </p:nvSpPr>
          <p:spPr bwMode="auto">
            <a:xfrm>
              <a:off x="1440" y="1920"/>
              <a:ext cx="1200" cy="336"/>
            </a:xfrm>
            <a:prstGeom prst="rightArrow">
              <a:avLst>
                <a:gd name="adj1" fmla="val 50000"/>
                <a:gd name="adj2" fmla="val 89286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</p:grpSp>
      <p:grpSp>
        <p:nvGrpSpPr>
          <p:cNvPr id="64521" name="Group 9"/>
          <p:cNvGrpSpPr>
            <a:grpSpLocks/>
          </p:cNvGrpSpPr>
          <p:nvPr/>
        </p:nvGrpSpPr>
        <p:grpSpPr bwMode="auto">
          <a:xfrm>
            <a:off x="2438400" y="2133600"/>
            <a:ext cx="2133600" cy="685800"/>
            <a:chOff x="1440" y="1632"/>
            <a:chExt cx="1296" cy="912"/>
          </a:xfrm>
        </p:grpSpPr>
        <p:sp>
          <p:nvSpPr>
            <p:cNvPr id="64522" name="AutoShape 10"/>
            <p:cNvSpPr>
              <a:spLocks/>
            </p:cNvSpPr>
            <p:nvPr/>
          </p:nvSpPr>
          <p:spPr bwMode="auto">
            <a:xfrm>
              <a:off x="2640" y="1632"/>
              <a:ext cx="96" cy="912"/>
            </a:xfrm>
            <a:prstGeom prst="leftBrace">
              <a:avLst>
                <a:gd name="adj1" fmla="val 7916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64523" name="AutoShape 11"/>
            <p:cNvSpPr>
              <a:spLocks noChangeArrowheads="1"/>
            </p:cNvSpPr>
            <p:nvPr/>
          </p:nvSpPr>
          <p:spPr bwMode="auto">
            <a:xfrm>
              <a:off x="1440" y="1920"/>
              <a:ext cx="1200" cy="336"/>
            </a:xfrm>
            <a:prstGeom prst="rightArrow">
              <a:avLst>
                <a:gd name="adj1" fmla="val 50000"/>
                <a:gd name="adj2" fmla="val 89286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</p:grp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utoUpdateAnimBg="0"/>
      <p:bldP spid="6451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096A46DA-438F-4E40-8E3C-905BCA2E26C4}" type="slidenum">
              <a:rPr lang="en-US" altLang="ja-JP"/>
              <a:pPr/>
              <a:t>28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プレゼンソフトに必要な機能</a:t>
            </a:r>
          </a:p>
        </p:txBody>
      </p:sp>
      <p:sp>
        <p:nvSpPr>
          <p:cNvPr id="13722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ja-JP" altLang="en-US" sz="2600"/>
              <a:t>プラットフォーム</a:t>
            </a:r>
          </a:p>
          <a:p>
            <a:pPr lvl="1">
              <a:lnSpc>
                <a:spcPct val="90000"/>
              </a:lnSpc>
            </a:pPr>
            <a:r>
              <a:rPr lang="ja-JP" altLang="en-US" sz="2400"/>
              <a:t>アイデア構成</a:t>
            </a:r>
          </a:p>
          <a:p>
            <a:pPr lvl="2">
              <a:lnSpc>
                <a:spcPct val="90000"/>
              </a:lnSpc>
            </a:pPr>
            <a:r>
              <a:rPr lang="ja-JP" altLang="en-US" sz="2000"/>
              <a:t>スライドの並べ替え</a:t>
            </a:r>
          </a:p>
          <a:p>
            <a:pPr lvl="2">
              <a:lnSpc>
                <a:spcPct val="90000"/>
              </a:lnSpc>
            </a:pPr>
            <a:r>
              <a:rPr lang="ja-JP" altLang="en-US" sz="2000"/>
              <a:t>アウトライン機能</a:t>
            </a:r>
          </a:p>
          <a:p>
            <a:pPr lvl="1">
              <a:lnSpc>
                <a:spcPct val="90000"/>
              </a:lnSpc>
            </a:pPr>
            <a:r>
              <a:rPr lang="ja-JP" altLang="en-US" sz="2400"/>
              <a:t>視覚化</a:t>
            </a:r>
            <a:r>
              <a:rPr lang="en-US" altLang="ja-JP" sz="2400"/>
              <a:t>(</a:t>
            </a:r>
            <a:r>
              <a:rPr lang="ja-JP" altLang="en-US" sz="2400"/>
              <a:t>文字や図を自由にレイアウト</a:t>
            </a:r>
            <a:r>
              <a:rPr lang="en-US" altLang="ja-JP" sz="2400"/>
              <a:t>)</a:t>
            </a:r>
          </a:p>
          <a:p>
            <a:pPr lvl="1">
              <a:lnSpc>
                <a:spcPct val="90000"/>
              </a:lnSpc>
            </a:pPr>
            <a:r>
              <a:rPr lang="ja-JP" altLang="en-US" sz="2400"/>
              <a:t>テンプレート</a:t>
            </a:r>
          </a:p>
          <a:p>
            <a:pPr>
              <a:lnSpc>
                <a:spcPct val="90000"/>
              </a:lnSpc>
            </a:pPr>
            <a:r>
              <a:rPr lang="ja-JP" altLang="en-US" sz="2600"/>
              <a:t>コンテンツの提示</a:t>
            </a:r>
          </a:p>
          <a:p>
            <a:pPr lvl="1">
              <a:lnSpc>
                <a:spcPct val="90000"/>
              </a:lnSpc>
            </a:pPr>
            <a:r>
              <a:rPr lang="ja-JP" altLang="en-US" sz="2400"/>
              <a:t>順番に全画面表示．</a:t>
            </a:r>
          </a:p>
          <a:p>
            <a:pPr lvl="1">
              <a:lnSpc>
                <a:spcPct val="90000"/>
              </a:lnSpc>
            </a:pPr>
            <a:r>
              <a:rPr lang="ja-JP" altLang="en-US" sz="2400"/>
              <a:t>画面内で表示をコントロール（アニメーション）．</a:t>
            </a:r>
          </a:p>
          <a:p>
            <a:pPr lvl="1">
              <a:lnSpc>
                <a:spcPct val="90000"/>
              </a:lnSpc>
            </a:pPr>
            <a:r>
              <a:rPr lang="ja-JP" altLang="en-US" sz="2400"/>
              <a:t>各種ファイル（</a:t>
            </a:r>
            <a:r>
              <a:rPr lang="en-US" altLang="ja-JP" sz="2400"/>
              <a:t>Movie</a:t>
            </a:r>
            <a:r>
              <a:rPr lang="ja-JP" altLang="en-US" sz="2400"/>
              <a:t>など）の提示．</a:t>
            </a:r>
          </a:p>
          <a:p>
            <a:pPr lvl="1">
              <a:lnSpc>
                <a:spcPct val="90000"/>
              </a:lnSpc>
            </a:pPr>
            <a:r>
              <a:rPr lang="ja-JP" altLang="en-US" sz="2400"/>
              <a:t>各種形態（資料</a:t>
            </a:r>
            <a:r>
              <a:rPr lang="en-US" altLang="ja-JP" sz="2400"/>
              <a:t>, html, pdf)</a:t>
            </a:r>
            <a:r>
              <a:rPr lang="ja-JP" altLang="en-US" sz="2400"/>
              <a:t>で出力．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18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75310A23-6CD1-374E-88BF-6AB7BB9E7CA0}" type="slidenum">
              <a:rPr lang="en-US" altLang="ja-JP"/>
              <a:pPr/>
              <a:t>29</a:t>
            </a:fld>
            <a:endParaRPr lang="en-US" altLang="ja-JP"/>
          </a:p>
        </p:txBody>
      </p:sp>
      <p:sp>
        <p:nvSpPr>
          <p:cNvPr id="19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プレゼン関連ソフトの系譜</a:t>
            </a:r>
          </a:p>
        </p:txBody>
      </p:sp>
      <p:graphicFrame>
        <p:nvGraphicFramePr>
          <p:cNvPr id="48172" name="Group 44"/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42687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6950">
                <a:tc>
                  <a:txBody>
                    <a:bodyPr/>
                    <a:lstStyle>
                      <a:lvl1pPr>
                        <a:defRPr sz="2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1pPr>
                      <a:lvl2pPr>
                        <a:buClr>
                          <a:schemeClr val="accent2"/>
                        </a:buClr>
                        <a:buSzPct val="75000"/>
                        <a:buFont typeface="Osaka" charset="-128"/>
                        <a:defRPr sz="2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2pPr>
                      <a:lvl3pPr>
                        <a:buSzPct val="80000"/>
                        <a:defRPr sz="20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3pPr>
                      <a:lvl4pPr>
                        <a:buClr>
                          <a:schemeClr val="accent2"/>
                        </a:buClr>
                        <a:buSzPct val="80000"/>
                        <a:buFont typeface="Osaka" charset="-128"/>
                        <a:defRPr sz="1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4pPr>
                      <a:lvl5pP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構成を考える</a:t>
                      </a:r>
                      <a:br>
                        <a:rPr kumimoji="1" lang="ja-JP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</a:b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アイデアプロセッサ</a:t>
                      </a:r>
                      <a:endParaRPr kumimoji="1" lang="ja-JP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1pPr>
                      <a:lvl2pPr>
                        <a:buClr>
                          <a:schemeClr val="accent2"/>
                        </a:buClr>
                        <a:buSzPct val="75000"/>
                        <a:buFont typeface="Osaka" charset="-128"/>
                        <a:defRPr sz="2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2pPr>
                      <a:lvl3pPr>
                        <a:buSzPct val="80000"/>
                        <a:defRPr sz="20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3pPr>
                      <a:lvl4pPr>
                        <a:buClr>
                          <a:schemeClr val="accent2"/>
                        </a:buClr>
                        <a:buSzPct val="80000"/>
                        <a:buFont typeface="Osaka" charset="-128"/>
                        <a:defRPr sz="1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4pPr>
                      <a:lvl5pP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グラフ，模式図の作成</a:t>
                      </a:r>
                      <a:endParaRPr kumimoji="1" lang="ja-JP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1pPr>
                      <a:lvl2pPr>
                        <a:buClr>
                          <a:schemeClr val="accent2"/>
                        </a:buClr>
                        <a:buSzPct val="75000"/>
                        <a:buFont typeface="Osaka" charset="-128"/>
                        <a:defRPr sz="2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2pPr>
                      <a:lvl3pPr>
                        <a:buSzPct val="80000"/>
                        <a:defRPr sz="20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3pPr>
                      <a:lvl4pPr>
                        <a:buClr>
                          <a:schemeClr val="accent2"/>
                        </a:buClr>
                        <a:buSzPct val="80000"/>
                        <a:buFont typeface="Osaka" charset="-128"/>
                        <a:defRPr sz="1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4pPr>
                      <a:lvl5pP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プレゼン</a:t>
                      </a:r>
                      <a:endParaRPr kumimoji="1" lang="ja-JP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0">
                <a:tc>
                  <a:txBody>
                    <a:bodyPr/>
                    <a:lstStyle>
                      <a:lvl1pPr>
                        <a:defRPr sz="2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1pPr>
                      <a:lvl2pPr>
                        <a:buClr>
                          <a:schemeClr val="accent2"/>
                        </a:buClr>
                        <a:buSzPct val="75000"/>
                        <a:buFont typeface="Osaka" charset="-128"/>
                        <a:defRPr sz="2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2pPr>
                      <a:lvl3pPr>
                        <a:buSzPct val="80000"/>
                        <a:defRPr sz="20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3pPr>
                      <a:lvl4pPr>
                        <a:buClr>
                          <a:schemeClr val="accent2"/>
                        </a:buClr>
                        <a:buSzPct val="80000"/>
                        <a:buFont typeface="Osaka" charset="-128"/>
                        <a:defRPr sz="1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4pPr>
                      <a:lvl5pP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Mac:</a:t>
                      </a:r>
                      <a:endParaRPr kumimoji="1" lang="x-none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Acta,More,IdeaSt</a:t>
                      </a:r>
                      <a:r>
                        <a:rPr kumimoji="1" lang="x-none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orm, Inspiration...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x-none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Windows: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DBFF1D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PowerPoint,</a:t>
                      </a:r>
                      <a:endParaRPr kumimoji="1" lang="x-none" altLang="ja-JP" sz="2000" b="0" i="0" u="none" strike="noStrike" cap="none" normalizeH="0" baseline="0">
                        <a:ln>
                          <a:noFill/>
                        </a:ln>
                        <a:solidFill>
                          <a:srgbClr val="DBFF1D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NSアウトライナー</a:t>
                      </a:r>
                      <a:endParaRPr kumimoji="1" lang="ja-JP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endParaRPr kumimoji="1" lang="x-none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RTFで保存すれば，PowerPointに移せる．</a:t>
                      </a:r>
                      <a:endParaRPr kumimoji="1" lang="ja-JP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1pPr>
                      <a:lvl2pPr>
                        <a:buClr>
                          <a:schemeClr val="accent2"/>
                        </a:buClr>
                        <a:buSzPct val="75000"/>
                        <a:buFont typeface="Osaka" charset="-128"/>
                        <a:defRPr sz="2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2pPr>
                      <a:lvl3pPr>
                        <a:buSzPct val="80000"/>
                        <a:defRPr sz="20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3pPr>
                      <a:lvl4pPr>
                        <a:buClr>
                          <a:schemeClr val="accent2"/>
                        </a:buClr>
                        <a:buSzPct val="80000"/>
                        <a:buFont typeface="Osaka" charset="-128"/>
                        <a:defRPr sz="1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4pPr>
                      <a:lvl5pP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一太郎，花子</a:t>
                      </a:r>
                      <a:endParaRPr kumimoji="1" lang="ja-JP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MacDraw</a:t>
                      </a:r>
                      <a:endParaRPr kumimoji="1" lang="ja-JP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Excell</a:t>
                      </a:r>
                      <a:endParaRPr kumimoji="1" lang="ja-JP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KaleidaGraph</a:t>
                      </a:r>
                      <a:endParaRPr kumimoji="1" lang="x-none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x-none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Canvas</a:t>
                      </a:r>
                      <a:r>
                        <a:rPr kumimoji="1" lang="x-none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377E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x-none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DBFF1D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PowerPoint</a:t>
                      </a:r>
                      <a:endParaRPr kumimoji="1" lang="ja-JP" altLang="ja-JP" sz="2000" b="0" i="0" u="none" strike="noStrike" cap="none" normalizeH="0" baseline="0">
                        <a:ln>
                          <a:noFill/>
                        </a:ln>
                        <a:solidFill>
                          <a:srgbClr val="FF377E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endParaRPr kumimoji="1" lang="en-US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1pPr>
                      <a:lvl2pPr>
                        <a:buClr>
                          <a:schemeClr val="accent2"/>
                        </a:buClr>
                        <a:buSzPct val="75000"/>
                        <a:buFont typeface="Osaka" charset="-128"/>
                        <a:defRPr sz="2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2pPr>
                      <a:lvl3pPr>
                        <a:buSzPct val="80000"/>
                        <a:defRPr sz="20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3pPr>
                      <a:lvl4pPr>
                        <a:buClr>
                          <a:schemeClr val="accent2"/>
                        </a:buClr>
                        <a:buSzPct val="80000"/>
                        <a:buFont typeface="Osaka" charset="-128"/>
                        <a:defRPr sz="16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4pPr>
                      <a:lvl5pP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Osaka" charset="-128"/>
                        <a:defRPr sz="1400">
                          <a:solidFill>
                            <a:schemeClr val="tx1"/>
                          </a:solidFill>
                          <a:latin typeface="Osaka" charset="-128"/>
                          <a:ea typeface="Osaka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Persuasion</a:t>
                      </a:r>
                      <a:endParaRPr kumimoji="1" lang="ja-JP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DBFF1D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PowerPoint</a:t>
                      </a:r>
                      <a:endParaRPr kumimoji="1" lang="ja-JP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Acrobat</a:t>
                      </a:r>
                      <a:br>
                        <a:rPr kumimoji="1" lang="ja-JP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</a:br>
                      <a:r>
                        <a:rPr kumimoji="1" lang="ja-JP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ホームページ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アニメ</a:t>
                      </a:r>
                      <a:endParaRPr kumimoji="1" lang="ja-JP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LaTeX</a:t>
                      </a:r>
                      <a:endParaRPr kumimoji="1" lang="ja-JP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r>
                        <a:rPr kumimoji="1" lang="ja-JP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Keynote</a:t>
                      </a:r>
                      <a:endParaRPr kumimoji="1" lang="ja-JP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−等幅" charset="-128"/>
                        <a:ea typeface="Osaka−等幅" charset="-128"/>
                      </a:endParaRPr>
                    </a:p>
                    <a:p>
                      <a:pPr marL="4572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Osaka" charset="-128"/>
                        <a:buNone/>
                        <a:tabLst/>
                      </a:pPr>
                      <a:r>
                        <a:rPr kumimoji="1" lang="x-none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Osaka−等幅" charset="-128"/>
                        </a:rPr>
                        <a:t>“</a:t>
                      </a:r>
                      <a:r>
                        <a:rPr kumimoji="1" lang="x-none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Osaka−等幅" charset="-128"/>
                          <a:ea typeface="Osaka−等幅" charset="-128"/>
                        </a:rPr>
                        <a:t>Built for me.</a:t>
                      </a:r>
                      <a:r>
                        <a:rPr kumimoji="1" lang="x-none" altLang="ja-JP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Osaka−等幅" charset="-128"/>
                        </a:rPr>
                        <a:t>”</a:t>
                      </a:r>
                      <a:endParaRPr kumimoji="0" lang="en-US" altLang="ja-JP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" charset="-128"/>
                        <a:ea typeface="Osaka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90000"/>
                        <a:buFont typeface="Wingdings" charset="2"/>
                        <a:buNone/>
                        <a:tabLst/>
                      </a:pPr>
                      <a:endParaRPr kumimoji="0" lang="en-US" altLang="ja-JP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Osaka" charset="-128"/>
                        <a:ea typeface="Osaka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21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27861A95-1BF7-204C-A87F-5ED59FC4908D}" type="slidenum">
              <a:rPr lang="en-US" altLang="ja-JP"/>
              <a:pPr/>
              <a:t>30</a:t>
            </a:fld>
            <a:endParaRPr lang="en-US" altLang="ja-JP"/>
          </a:p>
        </p:txBody>
      </p:sp>
      <p:sp>
        <p:nvSpPr>
          <p:cNvPr id="22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グラフ化作業の流れ</a:t>
            </a:r>
          </a:p>
        </p:txBody>
      </p:sp>
      <p:sp>
        <p:nvSpPr>
          <p:cNvPr id="138246" name="Text Box 6"/>
          <p:cNvSpPr txBox="1">
            <a:spLocks noChangeArrowheads="1"/>
          </p:cNvSpPr>
          <p:nvPr/>
        </p:nvSpPr>
        <p:spPr bwMode="auto">
          <a:xfrm>
            <a:off x="685800" y="2362200"/>
            <a:ext cx="2476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>
                <a:latin typeface="Times" charset="0"/>
                <a:ea typeface="Osaka" charset="-128"/>
              </a:rPr>
              <a:t>KaleidaGraph(3.5)</a:t>
            </a:r>
          </a:p>
        </p:txBody>
      </p:sp>
      <p:sp>
        <p:nvSpPr>
          <p:cNvPr id="138247" name="Text Box 7"/>
          <p:cNvSpPr txBox="1">
            <a:spLocks noChangeArrowheads="1"/>
          </p:cNvSpPr>
          <p:nvPr/>
        </p:nvSpPr>
        <p:spPr bwMode="auto">
          <a:xfrm>
            <a:off x="914400" y="327660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>
                <a:latin typeface="Times" charset="0"/>
                <a:ea typeface="Osaka" charset="-128"/>
              </a:rPr>
              <a:t>MacDraw</a:t>
            </a:r>
          </a:p>
        </p:txBody>
      </p:sp>
      <p:sp>
        <p:nvSpPr>
          <p:cNvPr id="138248" name="Text Box 8"/>
          <p:cNvSpPr txBox="1">
            <a:spLocks noChangeArrowheads="1"/>
          </p:cNvSpPr>
          <p:nvPr/>
        </p:nvSpPr>
        <p:spPr bwMode="auto">
          <a:xfrm>
            <a:off x="914400" y="4267200"/>
            <a:ext cx="138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>
                <a:latin typeface="Times" charset="0"/>
                <a:ea typeface="Osaka" charset="-128"/>
              </a:rPr>
              <a:t>Illustrator</a:t>
            </a:r>
          </a:p>
        </p:txBody>
      </p:sp>
      <p:sp>
        <p:nvSpPr>
          <p:cNvPr id="138256" name="Text Box 16"/>
          <p:cNvSpPr txBox="1">
            <a:spLocks noGrp="1" noChangeArrowheads="1"/>
          </p:cNvSpPr>
          <p:nvPr>
            <p:ph type="body" idx="1"/>
          </p:nvPr>
        </p:nvSpPr>
        <p:spPr>
          <a:xfrm>
            <a:off x="3505200" y="1447800"/>
            <a:ext cx="5029200" cy="2743200"/>
          </a:xfrm>
          <a:noFill/>
          <a:ln/>
        </p:spPr>
        <p:txBody>
          <a:bodyPr/>
          <a:lstStyle/>
          <a:p>
            <a:pPr>
              <a:spcBef>
                <a:spcPct val="0"/>
              </a:spcBef>
              <a:buSzTx/>
              <a:buFont typeface="Osaka" charset="-128"/>
              <a:buChar char="■"/>
            </a:pPr>
            <a:r>
              <a:rPr kumimoji="1" lang="ja-JP" altLang="en-US" sz="2400">
                <a:latin typeface="Times" charset="0"/>
              </a:rPr>
              <a:t>従来の作業の問題点．</a:t>
            </a:r>
          </a:p>
          <a:p>
            <a:pPr lvl="1">
              <a:spcBef>
                <a:spcPct val="0"/>
              </a:spcBef>
              <a:buClr>
                <a:schemeClr val="accent1"/>
              </a:buClr>
              <a:buSzTx/>
            </a:pPr>
            <a:r>
              <a:rPr kumimoji="1" lang="ja-JP" altLang="en-US" sz="2400">
                <a:latin typeface="Times" charset="0"/>
              </a:rPr>
              <a:t>手間がかかる．</a:t>
            </a:r>
          </a:p>
          <a:p>
            <a:pPr lvl="1">
              <a:spcBef>
                <a:spcPct val="0"/>
              </a:spcBef>
              <a:buClr>
                <a:schemeClr val="accent1"/>
              </a:buClr>
              <a:buSzTx/>
            </a:pPr>
            <a:r>
              <a:rPr kumimoji="1" lang="ja-JP" altLang="en-US" sz="2400">
                <a:latin typeface="Times" charset="0"/>
              </a:rPr>
              <a:t>原図一枚の原則に違反．</a:t>
            </a:r>
          </a:p>
          <a:p>
            <a:pPr lvl="1">
              <a:spcBef>
                <a:spcPct val="0"/>
              </a:spcBef>
              <a:buClr>
                <a:schemeClr val="accent1"/>
              </a:buClr>
              <a:buSzTx/>
            </a:pPr>
            <a:r>
              <a:rPr kumimoji="1" lang="en-US" altLang="ja-JP" sz="2400">
                <a:latin typeface="Times" charset="0"/>
              </a:rPr>
              <a:t>PP</a:t>
            </a:r>
            <a:r>
              <a:rPr kumimoji="1" lang="ja-JP" altLang="en-US" sz="2400">
                <a:latin typeface="Times" charset="0"/>
              </a:rPr>
              <a:t>の欠点：</a:t>
            </a:r>
            <a:r>
              <a:rPr kumimoji="1" lang="en-US" altLang="ja-JP" sz="2400">
                <a:latin typeface="Times" charset="0"/>
              </a:rPr>
              <a:t>eps</a:t>
            </a:r>
            <a:r>
              <a:rPr kumimoji="1" lang="ja-JP" altLang="en-US" sz="2400">
                <a:latin typeface="Times" charset="0"/>
              </a:rPr>
              <a:t>の扱いが下手．</a:t>
            </a:r>
          </a:p>
          <a:p>
            <a:pPr lvl="2">
              <a:spcBef>
                <a:spcPct val="0"/>
              </a:spcBef>
              <a:buSzTx/>
            </a:pPr>
            <a:r>
              <a:rPr kumimoji="1" lang="ja-JP" altLang="en-US" sz="2000">
                <a:latin typeface="Times" charset="0"/>
              </a:rPr>
              <a:t>出力形態がプレゼンだけなら，それほどの品位はいらない．</a:t>
            </a:r>
          </a:p>
          <a:p>
            <a:pPr>
              <a:spcBef>
                <a:spcPct val="0"/>
              </a:spcBef>
              <a:buSzTx/>
            </a:pPr>
            <a:r>
              <a:rPr kumimoji="1" lang="ja-JP" altLang="en-US" sz="2600">
                <a:latin typeface="Times" charset="0"/>
              </a:rPr>
              <a:t>つまりは妥協．</a:t>
            </a:r>
          </a:p>
        </p:txBody>
      </p:sp>
      <p:sp>
        <p:nvSpPr>
          <p:cNvPr id="138258" name="Text Box 18"/>
          <p:cNvSpPr txBox="1">
            <a:spLocks noChangeArrowheads="1"/>
          </p:cNvSpPr>
          <p:nvPr/>
        </p:nvSpPr>
        <p:spPr bwMode="auto">
          <a:xfrm>
            <a:off x="3276600" y="4876800"/>
            <a:ext cx="160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>
                <a:latin typeface="Times" charset="0"/>
                <a:ea typeface="Osaka" charset="-128"/>
              </a:rPr>
              <a:t>PowerPoint</a:t>
            </a:r>
          </a:p>
        </p:txBody>
      </p:sp>
      <p:cxnSp>
        <p:nvCxnSpPr>
          <p:cNvPr id="138261" name="AutoShape 21"/>
          <p:cNvCxnSpPr>
            <a:cxnSpLocks noChangeShapeType="1"/>
            <a:stCxn id="138246" idx="2"/>
            <a:endCxn id="138247" idx="0"/>
          </p:cNvCxnSpPr>
          <p:nvPr/>
        </p:nvCxnSpPr>
        <p:spPr bwMode="auto">
          <a:xfrm flipH="1">
            <a:off x="1616075" y="2819400"/>
            <a:ext cx="307975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8262" name="AutoShape 22"/>
          <p:cNvCxnSpPr>
            <a:cxnSpLocks noChangeShapeType="1"/>
            <a:stCxn id="138247" idx="2"/>
            <a:endCxn id="138248" idx="0"/>
          </p:cNvCxnSpPr>
          <p:nvPr/>
        </p:nvCxnSpPr>
        <p:spPr bwMode="auto">
          <a:xfrm flipH="1">
            <a:off x="1606550" y="3733800"/>
            <a:ext cx="9525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8263" name="AutoShape 23"/>
          <p:cNvCxnSpPr>
            <a:cxnSpLocks noChangeShapeType="1"/>
            <a:stCxn id="138248" idx="3"/>
            <a:endCxn id="138258" idx="1"/>
          </p:cNvCxnSpPr>
          <p:nvPr/>
        </p:nvCxnSpPr>
        <p:spPr bwMode="auto">
          <a:xfrm>
            <a:off x="2298700" y="4495800"/>
            <a:ext cx="9779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38269" name="Text Box 29"/>
          <p:cNvSpPr txBox="1">
            <a:spLocks noChangeArrowheads="1"/>
          </p:cNvSpPr>
          <p:nvPr/>
        </p:nvSpPr>
        <p:spPr bwMode="auto">
          <a:xfrm>
            <a:off x="2057400" y="4724400"/>
            <a:ext cx="75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>
                <a:latin typeface="Times" charset="0"/>
                <a:ea typeface="Osaka" charset="-128"/>
              </a:rPr>
              <a:t>[tiff]</a:t>
            </a:r>
          </a:p>
        </p:txBody>
      </p:sp>
      <p:sp>
        <p:nvSpPr>
          <p:cNvPr id="138270" name="Text Box 30"/>
          <p:cNvSpPr txBox="1">
            <a:spLocks noChangeArrowheads="1"/>
          </p:cNvSpPr>
          <p:nvPr/>
        </p:nvSpPr>
        <p:spPr bwMode="auto">
          <a:xfrm>
            <a:off x="6096000" y="4343400"/>
            <a:ext cx="2224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>
                <a:latin typeface="Times" charset="0"/>
                <a:ea typeface="Osaka" charset="-128"/>
              </a:rPr>
              <a:t>Microsoft Graph</a:t>
            </a:r>
          </a:p>
        </p:txBody>
      </p:sp>
      <p:sp>
        <p:nvSpPr>
          <p:cNvPr id="138271" name="Text Box 31"/>
          <p:cNvSpPr txBox="1">
            <a:spLocks noChangeArrowheads="1"/>
          </p:cNvSpPr>
          <p:nvPr/>
        </p:nvSpPr>
        <p:spPr bwMode="auto">
          <a:xfrm>
            <a:off x="6400800" y="4876800"/>
            <a:ext cx="979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>
                <a:latin typeface="Times" charset="0"/>
                <a:ea typeface="Osaka" charset="-128"/>
              </a:rPr>
              <a:t>Origin</a:t>
            </a:r>
          </a:p>
        </p:txBody>
      </p:sp>
      <p:sp>
        <p:nvSpPr>
          <p:cNvPr id="138272" name="Text Box 32"/>
          <p:cNvSpPr txBox="1">
            <a:spLocks noChangeArrowheads="1"/>
          </p:cNvSpPr>
          <p:nvPr/>
        </p:nvSpPr>
        <p:spPr bwMode="auto">
          <a:xfrm>
            <a:off x="6400800" y="5410200"/>
            <a:ext cx="1604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>
                <a:latin typeface="Times" charset="0"/>
                <a:ea typeface="Osaka" charset="-128"/>
              </a:rPr>
              <a:t>DeltaGraph</a:t>
            </a:r>
          </a:p>
        </p:txBody>
      </p:sp>
      <p:cxnSp>
        <p:nvCxnSpPr>
          <p:cNvPr id="138274" name="AutoShape 34"/>
          <p:cNvCxnSpPr>
            <a:cxnSpLocks noChangeShapeType="1"/>
            <a:stCxn id="138258" idx="3"/>
            <a:endCxn id="138270" idx="1"/>
          </p:cNvCxnSpPr>
          <p:nvPr/>
        </p:nvCxnSpPr>
        <p:spPr bwMode="auto">
          <a:xfrm flipV="1">
            <a:off x="4883150" y="4572000"/>
            <a:ext cx="121285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8275" name="AutoShape 35"/>
          <p:cNvCxnSpPr>
            <a:cxnSpLocks noChangeShapeType="1"/>
            <a:stCxn id="138258" idx="3"/>
            <a:endCxn id="138271" idx="1"/>
          </p:cNvCxnSpPr>
          <p:nvPr/>
        </p:nvCxnSpPr>
        <p:spPr bwMode="auto">
          <a:xfrm>
            <a:off x="4883150" y="5105400"/>
            <a:ext cx="1517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8276" name="AutoShape 36"/>
          <p:cNvCxnSpPr>
            <a:cxnSpLocks noChangeShapeType="1"/>
            <a:endCxn id="138272" idx="1"/>
          </p:cNvCxnSpPr>
          <p:nvPr/>
        </p:nvCxnSpPr>
        <p:spPr bwMode="auto">
          <a:xfrm>
            <a:off x="4876800" y="5105400"/>
            <a:ext cx="1524000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38278" name="Text Box 38"/>
          <p:cNvSpPr txBox="1">
            <a:spLocks noChangeArrowheads="1"/>
          </p:cNvSpPr>
          <p:nvPr/>
        </p:nvSpPr>
        <p:spPr bwMode="auto">
          <a:xfrm>
            <a:off x="4419600" y="5867400"/>
            <a:ext cx="2476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400">
                <a:latin typeface="Times" charset="0"/>
                <a:ea typeface="Osaka" charset="-128"/>
              </a:rPr>
              <a:t>KaleidaGraph(3.6)</a:t>
            </a:r>
          </a:p>
        </p:txBody>
      </p:sp>
      <p:cxnSp>
        <p:nvCxnSpPr>
          <p:cNvPr id="138279" name="AutoShape 39"/>
          <p:cNvCxnSpPr>
            <a:cxnSpLocks noChangeShapeType="1"/>
            <a:stCxn id="138258" idx="3"/>
            <a:endCxn id="138278" idx="0"/>
          </p:cNvCxnSpPr>
          <p:nvPr/>
        </p:nvCxnSpPr>
        <p:spPr bwMode="auto">
          <a:xfrm>
            <a:off x="4883150" y="5105400"/>
            <a:ext cx="7747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5BF60677-3A04-7240-B4C9-33ED20302405}" type="slidenum">
              <a:rPr lang="en-US" altLang="ja-JP"/>
              <a:pPr/>
              <a:t>31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なぜ究極の選択か？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ja-JP" altLang="en-US" sz="2000"/>
              <a:t>「パワーポイント絶対主義」</a:t>
            </a:r>
            <a:br>
              <a:rPr lang="ja-JP" altLang="en-US" sz="2000"/>
            </a:br>
            <a:r>
              <a:rPr lang="en-US" altLang="ja-JP" sz="2000"/>
              <a:t>http://www.blog.net/powerpt-j.htm</a:t>
            </a:r>
          </a:p>
          <a:p>
            <a:pPr lvl="1"/>
            <a:r>
              <a:rPr lang="ja-JP" altLang="en-US" sz="2000" b="1"/>
              <a:t>パワーポイントは気づかぬ間に思考を編集！？</a:t>
            </a:r>
          </a:p>
          <a:p>
            <a:pPr lvl="1"/>
            <a:r>
              <a:rPr lang="ja-JP" altLang="en-US" sz="2000" b="1"/>
              <a:t>“</a:t>
            </a:r>
            <a:r>
              <a:rPr lang="en-US" altLang="ja-JP" sz="2000" b="1"/>
              <a:t>Absolute PowerPoint” by Ian Parker, </a:t>
            </a:r>
            <a:br>
              <a:rPr lang="en-US" altLang="ja-JP" sz="2000" b="1"/>
            </a:br>
            <a:r>
              <a:rPr lang="en-US" altLang="ja-JP" sz="2000" i="1"/>
              <a:t>New Yorker - 2001</a:t>
            </a:r>
            <a:r>
              <a:rPr lang="ja-JP" altLang="en-US" sz="2000" i="1"/>
              <a:t>年</a:t>
            </a:r>
            <a:r>
              <a:rPr lang="en-US" altLang="ja-JP" sz="2000" i="1"/>
              <a:t>5</a:t>
            </a:r>
            <a:r>
              <a:rPr lang="ja-JP" altLang="en-US" sz="2000" i="1"/>
              <a:t>月</a:t>
            </a:r>
            <a:r>
              <a:rPr lang="en-US" altLang="ja-JP" sz="2000" i="1"/>
              <a:t>28</a:t>
            </a:r>
            <a:r>
              <a:rPr lang="ja-JP" altLang="en-US" sz="2000" i="1"/>
              <a:t>日号より</a:t>
            </a:r>
            <a:r>
              <a:rPr lang="ja-JP" altLang="en-US" sz="2000"/>
              <a:t> </a:t>
            </a:r>
          </a:p>
          <a:p>
            <a:r>
              <a:rPr lang="ja-JP" altLang="en-US" sz="2000"/>
              <a:t>プレゼンテーションが登場する前には、会話があった。</a:t>
            </a:r>
          </a:p>
          <a:p>
            <a:pPr lvl="1"/>
            <a:r>
              <a:rPr lang="ja-JP" altLang="en-US" sz="2000"/>
              <a:t>インスタント ウィザード機能</a:t>
            </a:r>
            <a:r>
              <a:rPr lang="en-US" altLang="ja-JP" sz="2000"/>
              <a:t>.『</a:t>
            </a:r>
            <a:r>
              <a:rPr lang="ja-JP" altLang="en-US" sz="2000"/>
              <a:t>必要なのは中身のインスタント化じゃないか！</a:t>
            </a:r>
            <a:r>
              <a:rPr lang="en-US" altLang="ja-JP" sz="2000"/>
              <a:t>』</a:t>
            </a:r>
            <a:r>
              <a:rPr lang="ja-JP" altLang="en-US" sz="2000"/>
              <a:t>，初めは冗談のつもりが</a:t>
            </a:r>
            <a:r>
              <a:rPr lang="en-US" altLang="ja-JP" sz="2000"/>
              <a:t>...</a:t>
            </a:r>
          </a:p>
          <a:p>
            <a:pPr lvl="1"/>
            <a:r>
              <a:rPr lang="ja-JP" altLang="en-US" sz="2000"/>
              <a:t>「</a:t>
            </a:r>
            <a:r>
              <a:rPr lang="en-US" altLang="ja-JP" sz="2000"/>
              <a:t>...</a:t>
            </a:r>
            <a:r>
              <a:rPr lang="ja-JP" altLang="en-US" sz="2000"/>
              <a:t>高給取りの人たちが、何時間も座りこんでスライドの体裁を整えているんですよ。なぜって、その方が、話の内容を考えるよりも楽しいから。</a:t>
            </a:r>
            <a:r>
              <a:rPr lang="en-US" altLang="ja-JP" sz="2000"/>
              <a:t>...</a:t>
            </a:r>
            <a:r>
              <a:rPr lang="ja-JP" altLang="en-US" sz="2000"/>
              <a:t>」</a:t>
            </a:r>
          </a:p>
          <a:p>
            <a:pPr lvl="1"/>
            <a:r>
              <a:rPr lang="ja-JP" altLang="en-US" sz="2000"/>
              <a:t>結果を伝えるには強力だが，プロセスはすっかりなくなる．</a:t>
            </a:r>
          </a:p>
          <a:p>
            <a:r>
              <a:rPr lang="ja-JP" altLang="en-US" sz="2200"/>
              <a:t>パワーポイントはプレゼンのゴールではなくスタート！！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49CD2697-50AA-3E44-B9E4-392AA36C2192}" type="slidenum">
              <a:rPr lang="en-US" altLang="ja-JP"/>
              <a:pPr/>
              <a:t>32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まとめ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x-none" sz="2600">
                <a:latin typeface="Osaka−等幅" charset="-128"/>
                <a:ea typeface="Osaka−等幅" charset="-128"/>
              </a:rPr>
              <a:t>話し方</a:t>
            </a:r>
            <a:r>
              <a:rPr kumimoji="1" lang="ja-JP" altLang="en-US" sz="2600">
                <a:latin typeface="Osaka−等幅" charset="-128"/>
                <a:ea typeface="Osaka−等幅" charset="-128"/>
              </a:rPr>
              <a:t>は</a:t>
            </a:r>
            <a:r>
              <a:rPr kumimoji="1" lang="ja-JP" altLang="x-none" sz="2600">
                <a:latin typeface="Osaka−等幅" charset="-128"/>
                <a:ea typeface="Osaka−等幅" charset="-128"/>
              </a:rPr>
              <a:t>お笑いを手本に，</a:t>
            </a:r>
            <a:endParaRPr kumimoji="1" lang="ja-JP" altLang="ja-JP" sz="26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000">
                <a:latin typeface="Osaka−等幅" charset="-128"/>
                <a:ea typeface="Osaka−等幅" charset="-128"/>
              </a:rPr>
              <a:t>「つかみ(結論先行)，ぼけと突っ込み(ペース)，おち(間)」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r>
              <a:rPr kumimoji="1" lang="ja-JP" altLang="x-none" sz="2600">
                <a:latin typeface="Osaka−等幅" charset="-128"/>
                <a:ea typeface="Osaka−等幅" charset="-128"/>
              </a:rPr>
              <a:t>あらかじめ情報を整理して．</a:t>
            </a:r>
            <a:endParaRPr kumimoji="1" lang="ja-JP" altLang="ja-JP" sz="26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400">
                <a:latin typeface="Osaka−等幅" charset="-128"/>
                <a:ea typeface="Osaka−等幅" charset="-128"/>
              </a:rPr>
              <a:t>プレゼンマップ</a:t>
            </a:r>
          </a:p>
          <a:p>
            <a:pPr lvl="1"/>
            <a:r>
              <a:rPr kumimoji="1" lang="ja-JP" altLang="x-none" sz="2400">
                <a:latin typeface="Osaka−等幅" charset="-128"/>
                <a:ea typeface="Osaka−等幅" charset="-128"/>
              </a:rPr>
              <a:t>比喩を使う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400">
                <a:latin typeface="Osaka−等幅" charset="-128"/>
                <a:ea typeface="Osaka−等幅" charset="-128"/>
              </a:rPr>
              <a:t>箇条書き</a:t>
            </a:r>
          </a:p>
          <a:p>
            <a:pPr lvl="1"/>
            <a:r>
              <a:rPr kumimoji="1" lang="ja-JP" altLang="x-none" sz="2400">
                <a:latin typeface="Osaka−等幅" charset="-128"/>
                <a:ea typeface="Osaka−等幅" charset="-128"/>
              </a:rPr>
              <a:t>視覚化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  <a:p>
            <a:r>
              <a:rPr kumimoji="1" lang="ja-JP" altLang="x-none" sz="2600">
                <a:latin typeface="Osaka−等幅" charset="-128"/>
                <a:ea typeface="Osaka−等幅" charset="-128"/>
              </a:rPr>
              <a:t>面白い学生は．．．</a:t>
            </a:r>
            <a:endParaRPr kumimoji="1" lang="ja-JP" altLang="ja-JP" sz="2600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 sz="2400">
                <a:latin typeface="Osaka−等幅" charset="-128"/>
                <a:ea typeface="Osaka−等幅" charset="-128"/>
              </a:rPr>
              <a:t>着眼点，話し方，ネタのデータベース</a:t>
            </a:r>
            <a:endParaRPr kumimoji="1" lang="ja-JP" altLang="ja-JP" sz="2400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8BDF65A3-C833-2C4C-B63A-70D8F1F4F876}" type="slidenum">
              <a:rPr lang="en-US" altLang="ja-JP"/>
              <a:pPr/>
              <a:t>33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伝えたいメッセージは何か？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理科系の文章ではすでにメッセージがある</a:t>
            </a:r>
            <a:r>
              <a:rPr kumimoji="1" lang="ja-JP" altLang="x-none">
                <a:latin typeface="Osaka−等幅" charset="-128"/>
                <a:ea typeface="Osaka−等幅" charset="-128"/>
              </a:rPr>
              <a:t>（はず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）</a:t>
            </a:r>
            <a:r>
              <a:rPr kumimoji="1" lang="ja-JP" altLang="x-none">
                <a:latin typeface="Osaka−等幅" charset="-128"/>
                <a:ea typeface="Osaka−等幅" charset="-128"/>
              </a:rPr>
              <a:t>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「超」文章法，野口悠紀雄著，中公新書1662(2002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)</a:t>
            </a:r>
            <a:r>
              <a:rPr kumimoji="1" lang="ja-JP" altLang="en-US">
                <a:latin typeface="Osaka−等幅" charset="-128"/>
                <a:ea typeface="Osaka−等幅" charset="-128"/>
              </a:rPr>
              <a:t>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r>
              <a:rPr kumimoji="1" lang="ja-JP" altLang="x-none">
                <a:latin typeface="Osaka−等幅" charset="-128"/>
                <a:ea typeface="Osaka−等幅" charset="-128"/>
              </a:rPr>
              <a:t>まず始めよ．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現役効果：構成を考えているうちにネタ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（</a:t>
            </a:r>
            <a:r>
              <a:rPr kumimoji="1" lang="ja-JP" altLang="en-US">
                <a:latin typeface="Osaka−等幅" charset="-128"/>
                <a:ea typeface="Osaka−等幅" charset="-128"/>
              </a:rPr>
              <a:t>比喩，論理など）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が集まる．</a:t>
            </a: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パソコンの利用はまさに「革命」</a:t>
            </a:r>
            <a:r>
              <a:rPr kumimoji="1" lang="ja-JP" altLang="en-US">
                <a:latin typeface="Osaka−等幅" charset="-128"/>
                <a:ea typeface="Osaka−等幅" charset="-128"/>
              </a:rPr>
              <a:t>．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74F48E7A-43A7-9948-9774-487E92567361}" type="slidenum">
              <a:rPr lang="en-US" altLang="ja-JP"/>
              <a:pPr/>
              <a:t>34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ja-JP">
                <a:latin typeface="Osaka−等幅" charset="-128"/>
                <a:ea typeface="Osaka−等幅" charset="-128"/>
              </a:rPr>
              <a:t>付録1：タイトルの型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00200"/>
            <a:ext cx="73914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1" lang="ja-JP" altLang="x-none" sz="2200">
                <a:latin typeface="Osaka−等幅" charset="-128"/>
                <a:ea typeface="Osaka−等幅" charset="-128"/>
              </a:rPr>
              <a:t>見出し型</a:t>
            </a:r>
            <a:endParaRPr kumimoji="1" lang="ja-JP" altLang="ja-JP" sz="22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無難，オーソドックス，客観的．冷静な印象を与える．反面退屈．</a:t>
            </a:r>
          </a:p>
          <a:p>
            <a:pPr lvl="1">
              <a:lnSpc>
                <a:spcPct val="9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内容は，考察の後に結論というレイアウト．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200">
                <a:latin typeface="Osaka−等幅" charset="-128"/>
                <a:ea typeface="Osaka−等幅" charset="-128"/>
              </a:rPr>
              <a:t>疑問提示型</a:t>
            </a:r>
            <a:endParaRPr kumimoji="1" lang="ja-JP" altLang="ja-JP" sz="22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関心の喚起に有効．</a:t>
            </a:r>
          </a:p>
          <a:p>
            <a:pPr lvl="1">
              <a:lnSpc>
                <a:spcPct val="9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タイトルを疑問形にし，その疑問に答える形で考察をおこない，結論に導くレイアウト．内容は見出し型と同じ．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  <a:p>
            <a:pPr>
              <a:lnSpc>
                <a:spcPct val="90000"/>
              </a:lnSpc>
            </a:pPr>
            <a:r>
              <a:rPr kumimoji="1" lang="ja-JP" altLang="x-none" sz="2200">
                <a:latin typeface="Osaka−等幅" charset="-128"/>
                <a:ea typeface="Osaka−等幅" charset="-128"/>
              </a:rPr>
              <a:t>結論提示型</a:t>
            </a:r>
            <a:endParaRPr kumimoji="1" lang="ja-JP" altLang="ja-JP" sz="2200">
              <a:latin typeface="Osaka−等幅" charset="-128"/>
              <a:ea typeface="Osaka−等幅" charset="-128"/>
            </a:endParaRPr>
          </a:p>
          <a:p>
            <a:pPr lvl="1">
              <a:lnSpc>
                <a:spcPct val="9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内容が把握しやすい．時間的制約に対処しやすい．結論が複雑で，文字数が多いときは難有．</a:t>
            </a:r>
          </a:p>
          <a:p>
            <a:pPr lvl="1">
              <a:lnSpc>
                <a:spcPct val="90000"/>
              </a:lnSpc>
            </a:pPr>
            <a:r>
              <a:rPr kumimoji="1" lang="ja-JP" altLang="x-none" sz="2000">
                <a:latin typeface="Osaka−等幅" charset="-128"/>
                <a:ea typeface="Osaka−等幅" charset="-128"/>
              </a:rPr>
              <a:t>タイトルに結論を提示し，その結論に至った根拠を内容としてレイアウト．</a:t>
            </a:r>
            <a:endParaRPr kumimoji="1" lang="ja-JP" altLang="ja-JP" sz="2000">
              <a:latin typeface="Osaka−等幅" charset="-128"/>
              <a:ea typeface="Osaka−等幅" charset="-128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8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53C8F100-F631-EA4D-A5CD-B0FB88EB0C87}" type="slidenum">
              <a:rPr lang="en-US" altLang="ja-JP"/>
              <a:pPr/>
              <a:t>35</a:t>
            </a:fld>
            <a:endParaRPr lang="en-US" altLang="ja-JP"/>
          </a:p>
        </p:txBody>
      </p:sp>
      <p:sp>
        <p:nvSpPr>
          <p:cNvPr id="9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229600" cy="685800"/>
          </a:xfrm>
        </p:spPr>
        <p:txBody>
          <a:bodyPr/>
          <a:lstStyle/>
          <a:p>
            <a:r>
              <a:rPr lang="ja-JP" altLang="en-US" sz="3200">
                <a:latin typeface="Osaka−等幅" charset="-128"/>
                <a:ea typeface="Osaka−等幅" charset="-128"/>
              </a:rPr>
              <a:t>付録</a:t>
            </a:r>
            <a:r>
              <a:rPr lang="en-US" altLang="ja-JP" sz="3200">
                <a:latin typeface="Osaka−等幅" charset="-128"/>
                <a:ea typeface="Osaka−等幅" charset="-128"/>
              </a:rPr>
              <a:t>2</a:t>
            </a:r>
            <a:r>
              <a:rPr lang="ja-JP" altLang="en-US" sz="3200">
                <a:latin typeface="Osaka−等幅" charset="-128"/>
                <a:ea typeface="Osaka−等幅" charset="-128"/>
              </a:rPr>
              <a:t>：要約のテクニック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42672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重点先行型の文章にする</a:t>
            </a:r>
          </a:p>
          <a:p>
            <a:pPr lvl="1"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結論部分を先頭に配置する</a:t>
            </a:r>
          </a:p>
          <a:p>
            <a:pPr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文章を組み立てる</a:t>
            </a:r>
          </a:p>
          <a:p>
            <a:pPr lvl="1"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意味が変わらないように文章を書き直す</a:t>
            </a:r>
          </a:p>
          <a:p>
            <a:pPr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文章を要約する</a:t>
            </a:r>
          </a:p>
          <a:p>
            <a:pPr lvl="1"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重複した語句を省く</a:t>
            </a:r>
          </a:p>
          <a:p>
            <a:pPr lvl="1"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主旨に影響しない語句を省く</a:t>
            </a:r>
          </a:p>
          <a:p>
            <a:pPr lvl="1"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まわりくどい表現を書き直す</a:t>
            </a:r>
          </a:p>
          <a:p>
            <a:pPr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文章を整える</a:t>
            </a:r>
          </a:p>
          <a:p>
            <a:pPr lvl="1"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受け手の視点から書く</a:t>
            </a:r>
          </a:p>
          <a:p>
            <a:pPr lvl="1"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カタカナ，漢字の使い過ぎに注意する</a:t>
            </a:r>
          </a:p>
          <a:p>
            <a:pPr lvl="1">
              <a:lnSpc>
                <a:spcPct val="90000"/>
              </a:lnSpc>
            </a:pPr>
            <a:r>
              <a:rPr lang="ja-JP" altLang="en-US" sz="1800">
                <a:latin typeface="Osaka−等幅" charset="-128"/>
                <a:ea typeface="Osaka−等幅" charset="-128"/>
              </a:rPr>
              <a:t>用字，用語を統一する</a:t>
            </a:r>
            <a:endParaRPr lang="ja-JP" altLang="en-US" sz="1700">
              <a:latin typeface="Osaka−等幅" charset="-128"/>
              <a:ea typeface="Osaka−等幅" charset="-128"/>
            </a:endParaRPr>
          </a:p>
        </p:txBody>
      </p:sp>
      <p:grpSp>
        <p:nvGrpSpPr>
          <p:cNvPr id="79880" name="Group 8"/>
          <p:cNvGrpSpPr>
            <a:grpSpLocks/>
          </p:cNvGrpSpPr>
          <p:nvPr/>
        </p:nvGrpSpPr>
        <p:grpSpPr bwMode="auto">
          <a:xfrm>
            <a:off x="4876800" y="1371600"/>
            <a:ext cx="3962400" cy="2819400"/>
            <a:chOff x="2928" y="480"/>
            <a:chExt cx="2496" cy="1776"/>
          </a:xfrm>
        </p:grpSpPr>
        <p:sp>
          <p:nvSpPr>
            <p:cNvPr id="79881" name="Rectangle 9"/>
            <p:cNvSpPr>
              <a:spLocks noChangeArrowheads="1"/>
            </p:cNvSpPr>
            <p:nvPr/>
          </p:nvSpPr>
          <p:spPr bwMode="auto">
            <a:xfrm>
              <a:off x="2928" y="480"/>
              <a:ext cx="2496" cy="177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79882" name="Text Box 10"/>
            <p:cNvSpPr txBox="1">
              <a:spLocks noChangeArrowheads="1"/>
            </p:cNvSpPr>
            <p:nvPr/>
          </p:nvSpPr>
          <p:spPr bwMode="auto">
            <a:xfrm>
              <a:off x="3024" y="576"/>
              <a:ext cx="2327" cy="16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buFontTx/>
                <a:buNone/>
              </a:pPr>
              <a:r>
                <a:rPr lang="ja-JP" altLang="x-none" sz="2800">
                  <a:solidFill>
                    <a:schemeClr val="tx2"/>
                  </a:solidFill>
                </a:rPr>
                <a:t>箇条書きの</a:t>
              </a:r>
              <a:r>
                <a:rPr lang="ja-JP" altLang="en-US" sz="2800">
                  <a:solidFill>
                    <a:schemeClr val="tx2"/>
                  </a:solidFill>
                </a:rPr>
                <a:t>効能</a:t>
              </a:r>
              <a:endParaRPr lang="ja-JP" altLang="ja-JP" sz="2800">
                <a:solidFill>
                  <a:schemeClr val="tx2"/>
                </a:solidFill>
              </a:endParaRPr>
            </a:p>
            <a:p>
              <a:pPr>
                <a:lnSpc>
                  <a:spcPct val="100000"/>
                </a:lnSpc>
                <a:buClr>
                  <a:schemeClr val="accent2"/>
                </a:buClr>
                <a:buSzPct val="75000"/>
                <a:buFont typeface="Osaka" charset="-128"/>
                <a:buChar char="■"/>
              </a:pPr>
              <a:r>
                <a:rPr lang="ja-JP" altLang="x-none" sz="2800">
                  <a:solidFill>
                    <a:schemeClr val="tx2"/>
                  </a:solidFill>
                </a:rPr>
                <a:t>主旨と結論が</a:t>
              </a:r>
              <a:endParaRPr lang="ja-JP" altLang="ja-JP" sz="2800">
                <a:solidFill>
                  <a:schemeClr val="tx2"/>
                </a:solidFill>
              </a:endParaRPr>
            </a:p>
            <a:p>
              <a:pPr lvl="1">
                <a:lnSpc>
                  <a:spcPct val="100000"/>
                </a:lnSpc>
                <a:buClr>
                  <a:schemeClr val="folHlink"/>
                </a:buClr>
                <a:buSzPct val="80000"/>
              </a:pPr>
              <a:r>
                <a:rPr lang="ja-JP" altLang="x-none" sz="2800">
                  <a:solidFill>
                    <a:schemeClr val="tx2"/>
                  </a:solidFill>
                </a:rPr>
                <a:t>記憶に残りやすい</a:t>
              </a:r>
              <a:endParaRPr lang="ja-JP" altLang="ja-JP" sz="2800">
                <a:solidFill>
                  <a:schemeClr val="tx2"/>
                </a:solidFill>
              </a:endParaRPr>
            </a:p>
            <a:p>
              <a:pPr lvl="1">
                <a:lnSpc>
                  <a:spcPct val="100000"/>
                </a:lnSpc>
                <a:buClr>
                  <a:schemeClr val="folHlink"/>
                </a:buClr>
                <a:buSzPct val="80000"/>
              </a:pPr>
              <a:r>
                <a:rPr lang="ja-JP" altLang="x-none" sz="2800">
                  <a:solidFill>
                    <a:schemeClr val="tx2"/>
                  </a:solidFill>
                </a:rPr>
                <a:t>理解度が高まる</a:t>
              </a:r>
              <a:endParaRPr lang="ja-JP" altLang="ja-JP" sz="2800">
                <a:solidFill>
                  <a:schemeClr val="tx2"/>
                </a:solidFill>
              </a:endParaRPr>
            </a:p>
            <a:p>
              <a:pPr lvl="1">
                <a:lnSpc>
                  <a:spcPct val="100000"/>
                </a:lnSpc>
                <a:buClr>
                  <a:schemeClr val="folHlink"/>
                </a:buClr>
                <a:buSzPct val="80000"/>
              </a:pPr>
              <a:r>
                <a:rPr lang="ja-JP" altLang="x-none" sz="2800">
                  <a:solidFill>
                    <a:schemeClr val="tx2"/>
                  </a:solidFill>
                </a:rPr>
                <a:t>短時間で伝わる</a:t>
              </a:r>
              <a:endParaRPr lang="ja-JP" altLang="en-US" sz="2400">
                <a:solidFill>
                  <a:schemeClr val="tx2"/>
                </a:solidFill>
                <a:latin typeface="Times" charset="0"/>
                <a:ea typeface="Osaka" charset="-128"/>
              </a:endParaRPr>
            </a:p>
          </p:txBody>
        </p:sp>
      </p:grp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D2438E63-93DD-5744-9644-F35C322ABBAA}" type="slidenum">
              <a:rPr lang="en-US" altLang="ja-JP"/>
              <a:pPr/>
              <a:t>36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200">
                <a:latin typeface="Osaka−等幅" charset="-128"/>
                <a:ea typeface="Osaka−等幅" charset="-128"/>
              </a:rPr>
              <a:t>付録</a:t>
            </a:r>
            <a:r>
              <a:rPr lang="en-US" altLang="ja-JP" sz="3200">
                <a:latin typeface="Osaka−等幅" charset="-128"/>
                <a:ea typeface="Osaka−等幅" charset="-128"/>
              </a:rPr>
              <a:t>3</a:t>
            </a:r>
            <a:r>
              <a:rPr lang="ja-JP" altLang="en-US" sz="3200">
                <a:latin typeface="Osaka−等幅" charset="-128"/>
                <a:ea typeface="Osaka−等幅" charset="-128"/>
              </a:rPr>
              <a:t>：究極のつかみ</a:t>
            </a:r>
            <a:endParaRPr kumimoji="1" lang="ja-JP" altLang="ja-JP">
              <a:latin typeface="Osaka−等幅" charset="-128"/>
              <a:ea typeface="Osaka−等幅" charset="-128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西欧人のプレゼンはジョークで始まり，</a:t>
            </a:r>
            <a:br>
              <a:rPr kumimoji="1" lang="ja-JP" altLang="x-none">
                <a:latin typeface="Osaka−等幅" charset="-128"/>
                <a:ea typeface="Osaka−等幅" charset="-128"/>
              </a:rPr>
            </a:br>
            <a:r>
              <a:rPr kumimoji="1" lang="ja-JP" altLang="x-none">
                <a:latin typeface="Osaka−等幅" charset="-128"/>
                <a:ea typeface="Osaka−等幅" charset="-128"/>
              </a:rPr>
              <a:t>日本人のプレゼンは言い訳で始る</a:t>
            </a:r>
            <a:endParaRPr kumimoji="1" lang="ja-JP" altLang="ja-JP">
              <a:latin typeface="Osaka−等幅" charset="-128"/>
              <a:ea typeface="Osaka−等幅" charset="-128"/>
            </a:endParaRP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わざわざ聞き手のネガティブな感情を呼び覚ます必要はない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．</a:t>
            </a:r>
          </a:p>
          <a:p>
            <a:pPr lvl="1"/>
            <a:r>
              <a:rPr kumimoji="1" lang="ja-JP" altLang="ja-JP">
                <a:latin typeface="Osaka−等幅" charset="-128"/>
                <a:ea typeface="Osaka−等幅" charset="-128"/>
              </a:rPr>
              <a:t>準備の時に謙虚さは大事だが，プレゼンするときには不要(役者になろう)．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技官研修会・プレゼンテーションの極意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ja-JP"/>
              <a:t>  - </a:t>
            </a:r>
            <a:fld id="{C0D3D0CC-8886-3C49-9334-7356AF20A3F7}" type="slidenum">
              <a:rPr lang="en-US" altLang="ja-JP"/>
              <a:pPr/>
              <a:t>37</a:t>
            </a:fld>
            <a:endParaRPr lang="en-US" altLang="ja-JP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ja-JP" altLang="en-US"/>
              <a:t>9.2.03</a:t>
            </a:r>
            <a:endParaRPr lang="en-US" altLang="ja-JP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200">
                <a:latin typeface="Osaka−等幅" charset="-128"/>
                <a:ea typeface="Osaka−等幅" charset="-128"/>
              </a:rPr>
              <a:t>参考文献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x-none">
                <a:latin typeface="Osaka−等幅" charset="-128"/>
                <a:ea typeface="Osaka−等幅" charset="-128"/>
              </a:rPr>
              <a:t>「分かりやすい説明」の技術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，</a:t>
            </a: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藤沢晃治著，ブルーバックスB1387</a:t>
            </a:r>
            <a:r>
              <a:rPr kumimoji="1" lang="x-none" altLang="ja-JP">
                <a:latin typeface="Osaka−等幅" charset="-128"/>
                <a:ea typeface="Osaka−等幅" charset="-128"/>
              </a:rPr>
              <a:t>(</a:t>
            </a:r>
            <a:r>
              <a:rPr kumimoji="1" lang="ja-JP" altLang="x-none">
                <a:latin typeface="Osaka−等幅" charset="-128"/>
                <a:ea typeface="Osaka−等幅" charset="-128"/>
              </a:rPr>
              <a:t>2002)．</a:t>
            </a:r>
            <a:endParaRPr kumimoji="1" lang="x-none" altLang="ja-JP">
              <a:latin typeface="Osaka−等幅" charset="-128"/>
              <a:ea typeface="Osaka−等幅" charset="-128"/>
            </a:endParaRPr>
          </a:p>
          <a:p>
            <a:r>
              <a:rPr kumimoji="1" lang="ja-JP" altLang="ja-JP">
                <a:latin typeface="Osaka−等幅" charset="-128"/>
                <a:ea typeface="Osaka−等幅" charset="-128"/>
              </a:rPr>
              <a:t>「考える技術・書く技術」，</a:t>
            </a:r>
          </a:p>
          <a:p>
            <a:pPr lvl="1"/>
            <a:r>
              <a:rPr kumimoji="1" lang="ja-JP" altLang="ja-JP">
                <a:latin typeface="Osaka−等幅" charset="-128"/>
                <a:ea typeface="Osaka−等幅" charset="-128"/>
              </a:rPr>
              <a:t>バーバラ・ミント著，ダイヤモンド社</a:t>
            </a:r>
            <a:r>
              <a:rPr kumimoji="1" lang="ja-JP" altLang="x-none">
                <a:latin typeface="Osaka−等幅" charset="-128"/>
                <a:ea typeface="Osaka−等幅" charset="-128"/>
              </a:rPr>
              <a:t>(</a:t>
            </a:r>
            <a:r>
              <a:rPr kumimoji="1" lang="x-none" altLang="ja-JP">
                <a:latin typeface="Osaka−等幅" charset="-128"/>
                <a:ea typeface="Osaka−等幅" charset="-128"/>
              </a:rPr>
              <a:t>1999)</a:t>
            </a:r>
            <a:r>
              <a:rPr kumimoji="1" lang="ja-JP" altLang="ja-JP">
                <a:latin typeface="Osaka−等幅" charset="-128"/>
                <a:ea typeface="Osaka−等幅" charset="-128"/>
              </a:rPr>
              <a:t>．</a:t>
            </a:r>
          </a:p>
          <a:p>
            <a:r>
              <a:rPr kumimoji="1" lang="ja-JP" altLang="ja-JP">
                <a:latin typeface="Osaka−等幅" charset="-128"/>
                <a:ea typeface="Osaka−等幅" charset="-128"/>
              </a:rPr>
              <a:t>実践！フルカラープレゼンテーション，</a:t>
            </a: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矢島隆，株コドス著，エクスメディア(2001</a:t>
            </a:r>
            <a:r>
              <a:rPr kumimoji="1" lang="x-none" altLang="ja-JP">
                <a:latin typeface="Osaka−等幅" charset="-128"/>
                <a:ea typeface="Osaka−等幅" charset="-128"/>
              </a:rPr>
              <a:t>)</a:t>
            </a:r>
            <a:r>
              <a:rPr kumimoji="1" lang="ja-JP" altLang="x-none">
                <a:latin typeface="Osaka−等幅" charset="-128"/>
                <a:ea typeface="Osaka−等幅" charset="-128"/>
              </a:rPr>
              <a:t>．</a:t>
            </a:r>
            <a:endParaRPr kumimoji="1" lang="x-none" altLang="ja-JP">
              <a:latin typeface="Osaka−等幅" charset="-128"/>
              <a:ea typeface="Osaka−等幅" charset="-128"/>
            </a:endParaRPr>
          </a:p>
          <a:p>
            <a:r>
              <a:rPr kumimoji="1" lang="ja-JP" altLang="x-none">
                <a:latin typeface="Osaka−等幅" charset="-128"/>
                <a:ea typeface="Osaka−等幅" charset="-128"/>
              </a:rPr>
              <a:t>「超」文章法，</a:t>
            </a:r>
          </a:p>
          <a:p>
            <a:pPr lvl="1"/>
            <a:r>
              <a:rPr kumimoji="1" lang="ja-JP" altLang="x-none">
                <a:latin typeface="Osaka−等幅" charset="-128"/>
                <a:ea typeface="Osaka−等幅" charset="-128"/>
              </a:rPr>
              <a:t>野口悠紀雄著，中公新書1662(2002）</a:t>
            </a:r>
            <a:r>
              <a:rPr kumimoji="1" lang="ja-JP" altLang="en-US">
                <a:latin typeface="Osaka−等幅" charset="-128"/>
                <a:ea typeface="Osaka−等幅" charset="-128"/>
              </a:rPr>
              <a:t>．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プレゼンテーション1">
  <a:themeElements>
    <a:clrScheme name="プレゼンテーション1 12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000080"/>
      </a:accent1>
      <a:accent2>
        <a:srgbClr val="9999CC"/>
      </a:accent2>
      <a:accent3>
        <a:srgbClr val="FFFFFF"/>
      </a:accent3>
      <a:accent4>
        <a:srgbClr val="000000"/>
      </a:accent4>
      <a:accent5>
        <a:srgbClr val="AAAAC0"/>
      </a:accent5>
      <a:accent6>
        <a:srgbClr val="8A8AB9"/>
      </a:accent6>
      <a:hlink>
        <a:srgbClr val="CCCCE6"/>
      </a:hlink>
      <a:folHlink>
        <a:srgbClr val="B2B2B2"/>
      </a:folHlink>
    </a:clrScheme>
    <a:fontScheme name="プレゼンテーション1">
      <a:majorFont>
        <a:latin typeface="Arial Black"/>
        <a:ea typeface="Osaka"/>
        <a:cs typeface=""/>
      </a:majorFont>
      <a:minorFont>
        <a:latin typeface="Osaka"/>
        <a:ea typeface="Osak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90000"/>
          <a:buFont typeface="Wingdings" charset="2"/>
          <a:buChar char="n"/>
          <a:tabLst/>
          <a:defRPr kumimoji="1" lang="ja-JP" altLang="en-US" sz="2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Osaka−等幅" charset="-128"/>
            <a:ea typeface="Osaka−等幅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90000"/>
          <a:buFont typeface="Wingdings" charset="2"/>
          <a:buChar char="n"/>
          <a:tabLst/>
          <a:defRPr kumimoji="1" lang="ja-JP" altLang="en-US" sz="2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Osaka−等幅" charset="-128"/>
            <a:ea typeface="Osaka−等幅" charset="-128"/>
          </a:defRPr>
        </a:defPPr>
      </a:lstStyle>
    </a:lnDef>
  </a:objectDefaults>
  <a:extraClrSchemeLst>
    <a:extraClrScheme>
      <a:clrScheme name="プレゼンテーション1 1">
        <a:dk1>
          <a:srgbClr val="666699"/>
        </a:dk1>
        <a:lt1>
          <a:srgbClr val="FFFFFF"/>
        </a:lt1>
        <a:dk2>
          <a:srgbClr val="000066"/>
        </a:dk2>
        <a:lt2>
          <a:srgbClr val="FFFFFF"/>
        </a:lt2>
        <a:accent1>
          <a:srgbClr val="0066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2DE7"/>
        </a:accent6>
        <a:hlink>
          <a:srgbClr val="0000C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プレゼンテーション1 2">
        <a:dk1>
          <a:srgbClr val="000000"/>
        </a:dk1>
        <a:lt1>
          <a:srgbClr val="FFFFFF"/>
        </a:lt1>
        <a:dk2>
          <a:srgbClr val="334B49"/>
        </a:dk2>
        <a:lt2>
          <a:srgbClr val="FFFFFF"/>
        </a:lt2>
        <a:accent1>
          <a:srgbClr val="009999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ACACA"/>
        </a:accent5>
        <a:accent6>
          <a:srgbClr val="007373"/>
        </a:accent6>
        <a:hlink>
          <a:srgbClr val="006666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プレゼンテーション1 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FF9900"/>
        </a:accent1>
        <a:accent2>
          <a:srgbClr val="FCB138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4A032"/>
        </a:accent6>
        <a:hlink>
          <a:srgbClr val="FCC66E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レゼンテーション1 4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440044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B0AAB0"/>
        </a:accent5>
        <a:accent6>
          <a:srgbClr val="6D0466"/>
        </a:accent6>
        <a:hlink>
          <a:srgbClr val="9F839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レゼンテーション1 5">
        <a:dk1>
          <a:srgbClr val="000000"/>
        </a:dk1>
        <a:lt1>
          <a:srgbClr val="FFFFFF"/>
        </a:lt1>
        <a:dk2>
          <a:srgbClr val="FFFFFF"/>
        </a:dk2>
        <a:lt2>
          <a:srgbClr val="666699"/>
        </a:lt2>
        <a:accent1>
          <a:srgbClr val="779F92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BDCDC7"/>
        </a:accent5>
        <a:accent6>
          <a:srgbClr val="8EB0C3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レゼンテーション1 6">
        <a:dk1>
          <a:srgbClr val="6A0000"/>
        </a:dk1>
        <a:lt1>
          <a:srgbClr val="FFFFFF"/>
        </a:lt1>
        <a:dk2>
          <a:srgbClr val="FFFFFF"/>
        </a:dk2>
        <a:lt2>
          <a:srgbClr val="666699"/>
        </a:lt2>
        <a:accent1>
          <a:srgbClr val="CC3300"/>
        </a:accent1>
        <a:accent2>
          <a:srgbClr val="CC6600"/>
        </a:accent2>
        <a:accent3>
          <a:srgbClr val="FFFFFF"/>
        </a:accent3>
        <a:accent4>
          <a:srgbClr val="590000"/>
        </a:accent4>
        <a:accent5>
          <a:srgbClr val="E2ADAA"/>
        </a:accent5>
        <a:accent6>
          <a:srgbClr val="B95C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レゼンテーション1 7">
        <a:dk1>
          <a:srgbClr val="4F4F77"/>
        </a:dk1>
        <a:lt1>
          <a:srgbClr val="FFFFFF"/>
        </a:lt1>
        <a:dk2>
          <a:srgbClr val="4A7911"/>
        </a:dk2>
        <a:lt2>
          <a:srgbClr val="FFFFFF"/>
        </a:lt2>
        <a:accent1>
          <a:srgbClr val="336600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ADB8AA"/>
        </a:accent5>
        <a:accent6>
          <a:srgbClr val="5C8A00"/>
        </a:accent6>
        <a:hlink>
          <a:srgbClr val="99CC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プレゼンテーション1 8">
        <a:dk1>
          <a:srgbClr val="003300"/>
        </a:dk1>
        <a:lt1>
          <a:srgbClr val="FFFFFF"/>
        </a:lt1>
        <a:dk2>
          <a:srgbClr val="FFFFFF"/>
        </a:dk2>
        <a:lt2>
          <a:srgbClr val="4F4F77"/>
        </a:lt2>
        <a:accent1>
          <a:srgbClr val="3366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ADB8AA"/>
        </a:accent5>
        <a:accent6>
          <a:srgbClr val="5C8A00"/>
        </a:accent6>
        <a:hlink>
          <a:srgbClr val="99CC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レゼンテーション1 9">
        <a:dk1>
          <a:srgbClr val="8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8080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0C0"/>
        </a:accent5>
        <a:accent6>
          <a:srgbClr val="008A8A"/>
        </a:accent6>
        <a:hlink>
          <a:srgbClr val="70CAC6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プレゼンテーション1 10">
        <a:dk1>
          <a:srgbClr val="4F4F77"/>
        </a:dk1>
        <a:lt1>
          <a:srgbClr val="FFFFFF"/>
        </a:lt1>
        <a:dk2>
          <a:srgbClr val="330000"/>
        </a:dk2>
        <a:lt2>
          <a:srgbClr val="FFFFFF"/>
        </a:lt2>
        <a:accent1>
          <a:srgbClr val="822504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C1ACAA"/>
        </a:accent5>
        <a:accent6>
          <a:srgbClr val="8F2505"/>
        </a:accent6>
        <a:hlink>
          <a:srgbClr val="7C0704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プレゼンテーション1 11">
        <a:dk1>
          <a:srgbClr val="333333"/>
        </a:dk1>
        <a:lt1>
          <a:srgbClr val="FFFFFF"/>
        </a:lt1>
        <a:dk2>
          <a:srgbClr val="333399"/>
        </a:dk2>
        <a:lt2>
          <a:srgbClr val="FFFFFF"/>
        </a:lt2>
        <a:accent1>
          <a:srgbClr val="006699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B8CA"/>
        </a:accent5>
        <a:accent6>
          <a:srgbClr val="02799E"/>
        </a:accent6>
        <a:hlink>
          <a:srgbClr val="6699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プレゼンテーション1 12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000080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AAAC0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11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12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13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14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15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16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17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18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19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20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21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22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23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24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25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26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27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28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29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30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31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32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33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34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35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36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ppt/theme/themeOverride37.xml><?xml version="1.0" encoding="utf-8"?>
<a:themeOverride xmlns:a="http://schemas.openxmlformats.org/drawingml/2006/main">
  <a:clrScheme name="プレゼンテーション1 1">
    <a:dk1>
      <a:srgbClr val="666699"/>
    </a:dk1>
    <a:lt1>
      <a:srgbClr val="FFFFFF"/>
    </a:lt1>
    <a:dk2>
      <a:srgbClr val="000066"/>
    </a:dk2>
    <a:lt2>
      <a:srgbClr val="FFFFFF"/>
    </a:lt2>
    <a:accent1>
      <a:srgbClr val="0066FF"/>
    </a:accent1>
    <a:accent2>
      <a:srgbClr val="3333FF"/>
    </a:accent2>
    <a:accent3>
      <a:srgbClr val="AAAAB8"/>
    </a:accent3>
    <a:accent4>
      <a:srgbClr val="DADADA"/>
    </a:accent4>
    <a:accent5>
      <a:srgbClr val="AAB8FF"/>
    </a:accent5>
    <a:accent6>
      <a:srgbClr val="2D2DE7"/>
    </a:accent6>
    <a:hlink>
      <a:srgbClr val="0000CC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OSX:Applications:Microsoft Office X:テンプレート:個人用テンプレート:プレゼンテーション1.pot</Template>
  <TotalTime>2007</TotalTime>
  <Words>2441</Words>
  <Application>Microsoft Macintosh PowerPoint</Application>
  <PresentationFormat>画面に合わせる (4:3)</PresentationFormat>
  <Paragraphs>482</Paragraphs>
  <Slides>37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52" baseType="lpstr">
      <vt:lpstr>ＤＦＰ太丸ゴシック体</vt:lpstr>
      <vt:lpstr>New York</vt:lpstr>
      <vt:lpstr>Osaka</vt:lpstr>
      <vt:lpstr>Osaka−等幅</vt:lpstr>
      <vt:lpstr>ヒラギノ丸ゴ Pro W4</vt:lpstr>
      <vt:lpstr>ヒラギノ明朝 Pro W3</vt:lpstr>
      <vt:lpstr>ヒラギノ明朝 Pro W6</vt:lpstr>
      <vt:lpstr>Arial</vt:lpstr>
      <vt:lpstr>Arial Black</vt:lpstr>
      <vt:lpstr>Helvetica</vt:lpstr>
      <vt:lpstr>Times</vt:lpstr>
      <vt:lpstr>Times New Roman</vt:lpstr>
      <vt:lpstr>Wingdings</vt:lpstr>
      <vt:lpstr>プレゼンテーション1</vt:lpstr>
      <vt:lpstr>グラフ</vt:lpstr>
      <vt:lpstr>「プレゼンテーションの極意」</vt:lpstr>
      <vt:lpstr>わかっちゃいるけど．．．</vt:lpstr>
      <vt:lpstr>基本の「き」</vt:lpstr>
      <vt:lpstr>プレゼンテーションの極意（目標と内容）</vt:lpstr>
      <vt:lpstr>理屈</vt:lpstr>
      <vt:lpstr>認知科学からみた「分かる」ということ</vt:lpstr>
      <vt:lpstr>手っ取り早いテクニック</vt:lpstr>
      <vt:lpstr>どれだけ効くか？？</vt:lpstr>
      <vt:lpstr>どれだけ効くか？？</vt:lpstr>
      <vt:lpstr>「分かりやすい説明」の極意</vt:lpstr>
      <vt:lpstr>学会発表での比喩</vt:lpstr>
      <vt:lpstr>テクニック：あらかじめ情報を整理</vt:lpstr>
      <vt:lpstr>プレゼンマップ[II]</vt:lpstr>
      <vt:lpstr>起承転結？</vt:lpstr>
      <vt:lpstr>プレゼンの流れ(ビジネス現場での)</vt:lpstr>
      <vt:lpstr>どこへ行く？？</vt:lpstr>
      <vt:lpstr>ドキュメントの企画・設計</vt:lpstr>
      <vt:lpstr>私はどうやっているか？</vt:lpstr>
      <vt:lpstr>プレゼンマップ[III]</vt:lpstr>
      <vt:lpstr>必要なセンス</vt:lpstr>
      <vt:lpstr>視覚化の勘所</vt:lpstr>
      <vt:lpstr>まずいグラフ</vt:lpstr>
      <vt:lpstr>大きければいいというものでも．．</vt:lpstr>
      <vt:lpstr>適正なグラフ（１）</vt:lpstr>
      <vt:lpstr>適正なグラフ（２）</vt:lpstr>
      <vt:lpstr>プレゼンマップ[IV]</vt:lpstr>
      <vt:lpstr>プレゼン手法の発展</vt:lpstr>
      <vt:lpstr>プレゼンソフトに必要な機能</vt:lpstr>
      <vt:lpstr>プレゼン関連ソフトの系譜</vt:lpstr>
      <vt:lpstr>グラフ化作業の流れ</vt:lpstr>
      <vt:lpstr>なぜ究極の選択か？</vt:lpstr>
      <vt:lpstr>まとめ</vt:lpstr>
      <vt:lpstr>伝えたいメッセージは何か？</vt:lpstr>
      <vt:lpstr>付録1：タイトルの型</vt:lpstr>
      <vt:lpstr>付録2：要約のテクニック</vt:lpstr>
      <vt:lpstr>付録3：究極のつかみ</vt:lpstr>
      <vt:lpstr>参考文献</vt:lpstr>
    </vt:vector>
  </TitlesOfParts>
  <Company>京都大学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イントロ</dc:title>
  <dc:creator>西谷 滋人</dc:creator>
  <cp:lastModifiedBy>西谷　滋人</cp:lastModifiedBy>
  <cp:revision>137</cp:revision>
  <cp:lastPrinted>2003-01-27T11:04:51Z</cp:lastPrinted>
  <dcterms:created xsi:type="dcterms:W3CDTF">2003-01-09T11:31:10Z</dcterms:created>
  <dcterms:modified xsi:type="dcterms:W3CDTF">2020-06-25T22:57:42Z</dcterms:modified>
</cp:coreProperties>
</file>