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9" r:id="rId3"/>
    <p:sldId id="276" r:id="rId4"/>
    <p:sldId id="277" r:id="rId5"/>
    <p:sldId id="278" r:id="rId6"/>
    <p:sldId id="282" r:id="rId7"/>
    <p:sldId id="281" r:id="rId8"/>
    <p:sldId id="289" r:id="rId9"/>
    <p:sldId id="283" r:id="rId10"/>
    <p:sldId id="290" r:id="rId11"/>
    <p:sldId id="284" r:id="rId12"/>
    <p:sldId id="292" r:id="rId13"/>
    <p:sldId id="286" r:id="rId14"/>
    <p:sldId id="287" r:id="rId15"/>
    <p:sldId id="288" r:id="rId16"/>
    <p:sldId id="291" r:id="rId17"/>
    <p:sldId id="293" r:id="rId18"/>
  </p:sldIdLst>
  <p:sldSz cx="9144000" cy="6858000" type="screen4x3"/>
  <p:notesSz cx="10234613" cy="70993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5" autoAdjust="0"/>
    <p:restoredTop sz="81769" autoAdjust="0"/>
  </p:normalViewPr>
  <p:slideViewPr>
    <p:cSldViewPr>
      <p:cViewPr varScale="1">
        <p:scale>
          <a:sx n="99" d="100"/>
          <a:sy n="99" d="100"/>
        </p:scale>
        <p:origin x="18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-96" y="-114"/>
      </p:cViewPr>
      <p:guideLst>
        <p:guide orient="horz" pos="2237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5797245" y="0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/>
          <a:lstStyle>
            <a:lvl1pPr algn="r">
              <a:defRPr sz="1300"/>
            </a:lvl1pPr>
          </a:lstStyle>
          <a:p>
            <a:fld id="{52AFAB61-1460-4C62-825F-A08F541253C7}" type="datetimeFigureOut">
              <a:rPr kumimoji="1" lang="ja-JP" altLang="en-US" smtClean="0"/>
              <a:pPr/>
              <a:t>2025/5/15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5797245" y="6743103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 anchor="b"/>
          <a:lstStyle>
            <a:lvl1pPr algn="r">
              <a:defRPr sz="1300"/>
            </a:lvl1pPr>
          </a:lstStyle>
          <a:p>
            <a:fld id="{08732BB0-914B-48EC-8E93-E646E6F28F8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675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5797245" y="0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7713F524-E736-4E91-9C25-3632361BD00E}" type="datetimeFigureOut">
              <a:rPr lang="ja-JP" altLang="en-US"/>
              <a:pPr>
                <a:defRPr/>
              </a:pPr>
              <a:t>2025/5/15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1813"/>
            <a:ext cx="3549650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1" tIns="49521" rIns="99041" bIns="49521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9041" tIns="49521" rIns="99041" bIns="49521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5797245" y="6743103"/>
            <a:ext cx="4434999" cy="354965"/>
          </a:xfrm>
          <a:prstGeom prst="rect">
            <a:avLst/>
          </a:prstGeom>
        </p:spPr>
        <p:txBody>
          <a:bodyPr vert="horz" lIns="99041" tIns="49521" rIns="99041" bIns="495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27E4D57C-6F71-4420-A2C7-426A2ED72D2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7915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0FCBBD-7A68-4A83-8414-6AB38A2E29B1}" type="slidenum">
              <a:rPr lang="en-US" altLang="ja-JP" sz="1200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ja-JP" sz="12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これだけのことをマスターしていれば困らない。だろう。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一通り経験して、こんなことしたことあるよーというものを持ってかえる。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アウトラインを覗きたいとき便利。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とくに、プレゼン中に失敗したときなどは、右下のスライドショーをよくつかう。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印刷ボタンはクイックでいいが、</a:t>
            </a:r>
            <a:endParaRPr kumimoji="1" lang="en-US" altLang="ja-JP" dirty="0"/>
          </a:p>
          <a:p>
            <a:r>
              <a:rPr kumimoji="1" lang="ja-JP" altLang="en-US" dirty="0"/>
              <a:t>学内での利用時には意図していないプリンターから</a:t>
            </a:r>
            <a:endParaRPr kumimoji="1" lang="en-US" altLang="ja-JP" dirty="0"/>
          </a:p>
          <a:p>
            <a:r>
              <a:rPr kumimoji="1" lang="ja-JP" altLang="en-US" dirty="0"/>
              <a:t>出力されるときがあるので注意。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印刷物を出す時には、プレビューを見る癖をつけよう。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25</a:t>
            </a:r>
            <a:r>
              <a:rPr kumimoji="1" lang="ja-JP" altLang="en-US" dirty="0"/>
              <a:t>枚のスライドからなる</a:t>
            </a:r>
            <a:r>
              <a:rPr kumimoji="1" lang="en-US" altLang="ja-JP" dirty="0" err="1"/>
              <a:t>ppt</a:t>
            </a:r>
            <a:r>
              <a:rPr kumimoji="1" lang="ja-JP" altLang="en-US" dirty="0"/>
              <a:t>ファイルなら、</a:t>
            </a:r>
            <a:endParaRPr kumimoji="1" lang="en-US" altLang="ja-JP" dirty="0"/>
          </a:p>
          <a:p>
            <a:r>
              <a:rPr kumimoji="1" lang="en-US" altLang="ja-JP" dirty="0"/>
              <a:t>20</a:t>
            </a:r>
            <a:r>
              <a:rPr kumimoji="1" lang="ja-JP" altLang="en-US" dirty="0"/>
              <a:t>人分印刷だけで、</a:t>
            </a:r>
            <a:r>
              <a:rPr kumimoji="1" lang="en-US" altLang="ja-JP" dirty="0"/>
              <a:t>1</a:t>
            </a:r>
            <a:r>
              <a:rPr kumimoji="1" lang="ja-JP" altLang="en-US" dirty="0"/>
              <a:t>年間の使用可能枚数を使い切ります・・・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配布資料は読みやすい形にして出力しましょう。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新しいスライドの作り方は何通りもある。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ホーム→「新しいスライド」　　　</a:t>
            </a:r>
            <a:r>
              <a:rPr kumimoji="1" lang="en-US" altLang="ja-JP" dirty="0"/>
              <a:t>2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スライドタブで</a:t>
            </a:r>
            <a:r>
              <a:rPr kumimoji="1" lang="en-US" altLang="ja-JP" dirty="0"/>
              <a:t>enter</a:t>
            </a:r>
            <a:r>
              <a:rPr kumimoji="1" lang="ja-JP" altLang="en-US" dirty="0"/>
              <a:t>キー　</a:t>
            </a:r>
            <a:r>
              <a:rPr kumimoji="1" lang="en-US" altLang="ja-JP" dirty="0"/>
              <a:t>	3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切り取って貼り付け　</a:t>
            </a:r>
            <a:r>
              <a:rPr kumimoji="1" lang="en-US" altLang="ja-JP" dirty="0"/>
              <a:t>etc...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上書き保存をする癖をつけておきましょう。</a:t>
            </a:r>
            <a:endParaRPr kumimoji="1" lang="en-US" altLang="ja-JP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図の微妙な配置は、「</a:t>
            </a:r>
            <a:r>
              <a:rPr kumimoji="1" lang="en-US" altLang="ja-JP" dirty="0"/>
              <a:t>Ctrl</a:t>
            </a:r>
            <a:r>
              <a:rPr kumimoji="1" lang="ja-JP" altLang="en-US" dirty="0"/>
              <a:t>」キーを押しながらキーボードで行う！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8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バカでかいファイルを挿入すると、非常に扱いづらいので、</a:t>
            </a:r>
            <a:endParaRPr kumimoji="1" lang="en-US" altLang="ja-JP" dirty="0"/>
          </a:p>
          <a:p>
            <a:r>
              <a:rPr kumimoji="1" lang="ja-JP" altLang="en-US" dirty="0"/>
              <a:t>できるだけ小さいサイズにリサイズして貼り付けること。</a:t>
            </a:r>
            <a:endParaRPr kumimoji="1" lang="en-US" altLang="ja-JP" dirty="0"/>
          </a:p>
          <a:p>
            <a:r>
              <a:rPr kumimoji="1" lang="ja-JP" altLang="en-US" dirty="0"/>
              <a:t>持ち運びできなくなる可能性もある。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1000</a:t>
            </a:r>
            <a:r>
              <a:rPr kumimoji="1" lang="ja-JP" altLang="en-US" dirty="0"/>
              <a:t>万画素デジカメなら、普通に撮影するだけでこのスライドの４倍以上の面積がある。</a:t>
            </a:r>
            <a:endParaRPr kumimoji="1" lang="en-US" altLang="ja-JP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9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10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11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3343275" y="533400"/>
            <a:ext cx="3548063" cy="2660650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9CB45-66A2-4B2D-857B-B2381A572378}" type="slidenum">
              <a:rPr lang="en-US" altLang="ja-JP" smtClean="0"/>
              <a:pPr/>
              <a:t>12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14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15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E4D57C-6F71-4420-A2C7-426A2ED72D29}" type="slidenum">
              <a:rPr lang="ja-JP" altLang="en-US" smtClean="0"/>
              <a:pPr>
                <a:defRPr/>
              </a:pPr>
              <a:t>16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3400"/>
            <a:ext cx="3548063" cy="2660650"/>
          </a:xfrm>
          <a:ln/>
        </p:spPr>
      </p:sp>
      <p:sp>
        <p:nvSpPr>
          <p:cNvPr id="2560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en-US">
              <a:latin typeface="Arial" charset="0"/>
            </a:endParaRPr>
          </a:p>
        </p:txBody>
      </p:sp>
      <p:sp>
        <p:nvSpPr>
          <p:cNvPr id="2560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175EE7-1748-4DE8-B1E6-49D3A9534F91}" type="slidenum">
              <a:rPr lang="en-US" altLang="ja-JP">
                <a:latin typeface="Arial" charset="0"/>
                <a:ea typeface="ＭＳ Ｐゴシック" charset="-128"/>
              </a:rPr>
              <a:pPr/>
              <a:t>17</a:t>
            </a:fld>
            <a:endParaRPr lang="en-US" altLang="ja-JP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/>
              <a:t>マスタ サブタイトルの書式設定</a:t>
            </a:r>
            <a:endParaRPr kumimoji="0" lang="en-US"/>
          </a:p>
        </p:txBody>
      </p:sp>
      <p:sp>
        <p:nvSpPr>
          <p:cNvPr id="28" name="日付プレースホル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7" name="フッター プレースホル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29" name="スライド番号プレースホル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4DC0179D-D5A0-4EE1-873E-1094FFF2194A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1" name="正方形/長方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正方形/長方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正方形/長方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正方形/長方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ACB34-7285-4C54-8CBC-16B5BE104D7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AC3BB4ED-67D8-4A9B-A2EF-435D832987B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正方形/長方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53F0A6-3B96-4826-87BD-67810E8BBA1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9" name="コンテンツ プレースホル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2B9724-B111-485E-B1F2-D1A42597612A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3" name="コンテンツ プレースホル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91F0C-4C29-4931-8764-D4304A8CBE5A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0A448-7588-4308-AE51-F1438D06472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直線コネクタ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F86FB-528B-4411-9A5D-CCCDAB82D04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直線コネクタ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コネクタ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二等辺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コンテンツ プレースホル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ja-JP" altLang="en-US"/>
              <a:t>アイコンをクリックして図を追加</a:t>
            </a:r>
            <a:endParaRPr kumimoji="0" lang="en-US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FF2EB-746D-49D4-A072-A275A7ED318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直線コネクタ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二等辺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正方形/長方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482C3-65FF-499F-85D6-0040B47561A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D6D67-F2E2-4F84-9A7C-85C9FD33C31A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直線コネクタ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二等辺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コネクタ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タイトル プレースホル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13" name="テキスト プレースホル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  <p:sp>
        <p:nvSpPr>
          <p:cNvPr id="14" name="日付プレースホル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" name="スライド番号プレースホル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495CBDF-F38E-4411-AB8D-194A82D1D6F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8" name="直線コネクタ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コネクタ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二等辺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rtl="0" eaLnBrk="1" latinLnBrk="0" hangingPunct="1">
        <a:spcBef>
          <a:spcPct val="0"/>
        </a:spcBef>
        <a:buNone/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1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1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1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mos.odyssey-com.co.jp/study/text2010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gif"/><Relationship Id="rId4" Type="http://schemas.openxmlformats.org/officeDocument/2006/relationships/hyperlink" Target="http://mos.odyssey-com.co.j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 txBox="1">
            <a:spLocks/>
          </p:cNvSpPr>
          <p:nvPr/>
        </p:nvSpPr>
        <p:spPr>
          <a:xfrm>
            <a:off x="1857356" y="1428736"/>
            <a:ext cx="5643602" cy="531180"/>
          </a:xfrm>
          <a:prstGeom prst="rect">
            <a:avLst/>
          </a:prstGeom>
        </p:spPr>
        <p:txBody>
          <a:bodyPr vert="horz" anchor="t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プレゼンテーションの流れ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94978" y="2344295"/>
            <a:ext cx="2656776" cy="469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テーマの設定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336504" y="3177147"/>
            <a:ext cx="2726692" cy="469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発表資料の作成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203026" y="3177147"/>
            <a:ext cx="2726692" cy="469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シナリオの作成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154299" y="4074065"/>
            <a:ext cx="2656776" cy="469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リハーサル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664893" y="5035048"/>
            <a:ext cx="2656776" cy="4692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プレゼン本番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825911" y="5996032"/>
            <a:ext cx="3076267" cy="5796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solidFill>
                  <a:srgbClr val="FF0000"/>
                </a:solidFill>
              </a:rPr>
              <a:t>評価・検証</a:t>
            </a:r>
          </a:p>
        </p:txBody>
      </p:sp>
      <p:sp>
        <p:nvSpPr>
          <p:cNvPr id="11" name="左カーブ矢印 10"/>
          <p:cNvSpPr/>
          <p:nvPr/>
        </p:nvSpPr>
        <p:spPr>
          <a:xfrm rot="11361101">
            <a:off x="1397829" y="2026844"/>
            <a:ext cx="2145040" cy="4317121"/>
          </a:xfrm>
          <a:prstGeom prst="curvedLef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4282" y="4470085"/>
            <a:ext cx="4572032" cy="76944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perspectiveContrastingRightFacing"/>
            <a:lightRig rig="threePt" dir="t"/>
          </a:scene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44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HG創英角ﾎﾟｯﾌﾟ体" pitchFamily="49" charset="-128"/>
                <a:ea typeface="HG創英角ﾎﾟｯﾌﾟ体" pitchFamily="49" charset="-128"/>
              </a:rPr>
              <a:t>フィードバック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ja-JP" altLang="en-US" dirty="0"/>
              <a:t>コンピュータ演習　プレゼンテーションの基礎岡田孝・山下雅啓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1357290" y="285728"/>
            <a:ext cx="7258072" cy="785834"/>
          </a:xfrm>
        </p:spPr>
        <p:txBody>
          <a:bodyPr>
            <a:normAutofit/>
          </a:bodyPr>
          <a:lstStyle/>
          <a:p>
            <a:pPr algn="ctr"/>
            <a:r>
              <a:rPr lang="en-US" altLang="ja-JP" sz="3600" dirty="0"/>
              <a:t>PowerPoint 2010</a:t>
            </a:r>
            <a:r>
              <a:rPr lang="ja-JP" altLang="en-US" sz="3600" dirty="0"/>
              <a:t>の基礎</a:t>
            </a:r>
            <a:endParaRPr kumimoji="1" lang="ja-JP" altLang="en-US" sz="3600" dirty="0"/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500034" y="1285860"/>
            <a:ext cx="5929354" cy="1785950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文字の編集</a:t>
            </a:r>
            <a:endParaRPr kumimoji="1" lang="en-US" altLang="ja-JP" sz="2000" dirty="0"/>
          </a:p>
          <a:p>
            <a:r>
              <a:rPr lang="ja-JP" altLang="en-US" sz="2400" dirty="0"/>
              <a:t>画像・図・リンクの貼り付け</a:t>
            </a:r>
            <a:endParaRPr lang="en-US" altLang="ja-JP" sz="2400" dirty="0"/>
          </a:p>
          <a:p>
            <a:r>
              <a:rPr kumimoji="1" lang="ja-JP" altLang="en-US" sz="2400" dirty="0"/>
              <a:t>アニメーションの設定・リハーサル</a:t>
            </a:r>
            <a:endParaRPr kumimoji="1" lang="en-US" altLang="ja-JP" sz="2400" dirty="0"/>
          </a:p>
          <a:p>
            <a:r>
              <a:rPr lang="ja-JP" altLang="en-US" sz="2400" dirty="0"/>
              <a:t>配布資料などの</a:t>
            </a:r>
            <a:r>
              <a:rPr kumimoji="1" lang="ja-JP" altLang="en-US" sz="2400" dirty="0"/>
              <a:t>印刷</a:t>
            </a:r>
            <a:endParaRPr kumimoji="1" lang="en-US" altLang="ja-JP" sz="2400" dirty="0"/>
          </a:p>
        </p:txBody>
      </p:sp>
      <p:pic>
        <p:nvPicPr>
          <p:cNvPr id="9" name="図 10" descr="ppt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0"/>
            <a:ext cx="12858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タイトル 2"/>
          <p:cNvSpPr txBox="1">
            <a:spLocks/>
          </p:cNvSpPr>
          <p:nvPr/>
        </p:nvSpPr>
        <p:spPr>
          <a:xfrm>
            <a:off x="357158" y="3143248"/>
            <a:ext cx="8229600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まず、雛形ファイルを</a:t>
            </a:r>
            <a:r>
              <a:rPr lang="ja-JP" alt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コピーする</a:t>
            </a: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コンテンツ プレースホルダ 1"/>
          <p:cNvSpPr txBox="1">
            <a:spLocks/>
          </p:cNvSpPr>
          <p:nvPr/>
        </p:nvSpPr>
        <p:spPr>
          <a:xfrm>
            <a:off x="357158" y="3786190"/>
            <a:ext cx="8229600" cy="151923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マイコンピュータ → 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(M)</a:t>
            </a: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ドライブ →　</a:t>
            </a:r>
            <a:r>
              <a:rPr kumimoji="1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okada</a:t>
            </a: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 </a:t>
            </a: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コンピュータ演習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</a:t>
            </a:r>
            <a:endParaRPr kumimoji="1" lang="en-US" altLang="ja-JP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1" lang="en-US" altLang="ja-JP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1" lang="ja-JP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図 10" descr="0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8" y="4572008"/>
            <a:ext cx="1571636" cy="1245062"/>
          </a:xfrm>
          <a:prstGeom prst="rect">
            <a:avLst/>
          </a:prstGeom>
        </p:spPr>
      </p:pic>
      <p:pic>
        <p:nvPicPr>
          <p:cNvPr id="12" name="図 11" descr="mydocument.JP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7290" y="4857760"/>
            <a:ext cx="1714512" cy="1275431"/>
          </a:xfrm>
          <a:prstGeom prst="rect">
            <a:avLst/>
          </a:prstGeom>
        </p:spPr>
      </p:pic>
      <p:cxnSp>
        <p:nvCxnSpPr>
          <p:cNvPr id="13" name="直線矢印コネクタ 12"/>
          <p:cNvCxnSpPr/>
          <p:nvPr/>
        </p:nvCxnSpPr>
        <p:spPr>
          <a:xfrm rot="10800000" flipV="1">
            <a:off x="2714612" y="5000635"/>
            <a:ext cx="2643206" cy="4286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図 13" descr="cop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26" y="4774006"/>
            <a:ext cx="2214578" cy="12982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テキスト ボックス 18"/>
          <p:cNvSpPr txBox="1"/>
          <p:nvPr/>
        </p:nvSpPr>
        <p:spPr>
          <a:xfrm>
            <a:off x="804074" y="5985908"/>
            <a:ext cx="5286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（注意！）</a:t>
            </a:r>
            <a:r>
              <a:rPr kumimoji="1" lang="en-US" altLang="ja-JP" sz="2000" dirty="0">
                <a:solidFill>
                  <a:srgbClr val="FF0000"/>
                </a:solidFill>
              </a:rPr>
              <a:t>M</a:t>
            </a:r>
            <a:r>
              <a:rPr kumimoji="1" lang="ja-JP" altLang="en-US" sz="2000" dirty="0">
                <a:solidFill>
                  <a:srgbClr val="FF0000"/>
                </a:solidFill>
              </a:rPr>
              <a:t>ドライブから直接ファイルと開くと、</a:t>
            </a:r>
            <a:endParaRPr kumimoji="1" lang="en-US" altLang="ja-JP" sz="2000" dirty="0">
              <a:solidFill>
                <a:srgbClr val="FF0000"/>
              </a:solidFill>
            </a:endParaRPr>
          </a:p>
          <a:p>
            <a:r>
              <a:rPr lang="ja-JP" altLang="en-US" sz="2000" dirty="0">
                <a:solidFill>
                  <a:srgbClr val="FF0000"/>
                </a:solidFill>
              </a:rPr>
              <a:t>他の人が編集できなくなり、迷惑がかかります。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000628" y="4357694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</a:t>
            </a:r>
            <a:r>
              <a:rPr kumimoji="1" lang="en-US" altLang="ja-JP" dirty="0" err="1"/>
              <a:t>powerpoint</a:t>
            </a:r>
            <a:r>
              <a:rPr kumimoji="1" lang="ja-JP" altLang="en-US" dirty="0"/>
              <a:t>ファイルと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表示方法の変更</a:t>
            </a:r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428596" y="1142984"/>
            <a:ext cx="8229600" cy="5091134"/>
          </a:xfrm>
        </p:spPr>
        <p:txBody>
          <a:bodyPr/>
          <a:lstStyle/>
          <a:p>
            <a:pPr marL="0" indent="449263">
              <a:buFont typeface="+mj-lt"/>
              <a:buAutoNum type="arabicPeriod"/>
            </a:pPr>
            <a:r>
              <a:rPr kumimoji="1" lang="ja-JP" altLang="en-US" sz="2800" dirty="0"/>
              <a:t>リボンの「表示」タブを選択</a:t>
            </a:r>
            <a:endParaRPr kumimoji="1" lang="en-US" altLang="ja-JP" sz="2800" dirty="0"/>
          </a:p>
          <a:p>
            <a:pPr marL="617538" lvl="1" indent="19050" defTabSz="620713">
              <a:buNone/>
            </a:pPr>
            <a:r>
              <a:rPr lang="ja-JP" altLang="en-US" sz="2400" dirty="0"/>
              <a:t>「標準」→「スライド一覧」→「ノート」をそれぞれ選んでみる</a:t>
            </a:r>
            <a:endParaRPr lang="en-US" altLang="ja-JP" sz="1800" dirty="0"/>
          </a:p>
          <a:p>
            <a:pPr marL="1588" indent="447675">
              <a:buFont typeface="+mj-lt"/>
              <a:buAutoNum type="arabicPeriod"/>
            </a:pPr>
            <a:r>
              <a:rPr lang="ja-JP" altLang="en-US" sz="2800" dirty="0">
                <a:latin typeface="+mn-ea"/>
              </a:rPr>
              <a:t>画面左側　アウトライン</a:t>
            </a:r>
            <a:r>
              <a:rPr lang="en-US" altLang="ja-JP" sz="2800" dirty="0">
                <a:latin typeface="+mn-ea"/>
              </a:rPr>
              <a:t>/</a:t>
            </a:r>
            <a:r>
              <a:rPr lang="ja-JP" altLang="en-US" sz="2800" dirty="0">
                <a:latin typeface="+mn-ea"/>
              </a:rPr>
              <a:t>スライドタブの変更</a:t>
            </a:r>
          </a:p>
          <a:p>
            <a:pPr marL="457200" indent="163513">
              <a:buNone/>
            </a:pPr>
            <a:r>
              <a:rPr kumimoji="1" lang="ja-JP" altLang="en-US" sz="2400" dirty="0">
                <a:latin typeface="+mn-ea"/>
              </a:rPr>
              <a:t>テキスト（文字）のみを表示させることができる</a:t>
            </a:r>
            <a:endParaRPr kumimoji="1" lang="en-US" altLang="ja-JP" sz="2400" dirty="0">
              <a:latin typeface="+mn-ea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kumimoji="1" lang="ja-JP" altLang="en-US" sz="2800" dirty="0">
                <a:latin typeface="+mn-ea"/>
              </a:rPr>
              <a:t>画面右下　表示方法の選択</a:t>
            </a:r>
            <a:endParaRPr kumimoji="1" lang="en-US" altLang="ja-JP" sz="2800" dirty="0">
              <a:latin typeface="+mn-ea"/>
            </a:endParaRPr>
          </a:p>
          <a:p>
            <a:pPr marL="457200" indent="163513">
              <a:buNone/>
            </a:pPr>
            <a:r>
              <a:rPr lang="ja-JP" altLang="en-US" sz="2400" dirty="0">
                <a:solidFill>
                  <a:prstClr val="black"/>
                </a:solidFill>
                <a:latin typeface="ＭＳ Ｐゴシック"/>
              </a:rPr>
              <a:t>スライドショーは、現在見ているスライドから開始される</a:t>
            </a:r>
            <a:endParaRPr lang="en-US" altLang="ja-JP" sz="2400" dirty="0">
              <a:solidFill>
                <a:prstClr val="black"/>
              </a:solidFill>
              <a:latin typeface="ＭＳ Ｐゴシック"/>
            </a:endParaRPr>
          </a:p>
          <a:p>
            <a:pPr marL="0" indent="0">
              <a:buNone/>
            </a:pPr>
            <a:endParaRPr kumimoji="1" lang="en-US" altLang="ja-JP" sz="2000" dirty="0">
              <a:solidFill>
                <a:prstClr val="black"/>
              </a:solidFill>
              <a:latin typeface="ＭＳ Ｐゴシック"/>
            </a:endParaRPr>
          </a:p>
          <a:p>
            <a:pPr marL="0" indent="0">
              <a:buNone/>
            </a:pPr>
            <a:r>
              <a:rPr kumimoji="1" lang="ja-JP" altLang="en-US" sz="2000" b="1" dirty="0">
                <a:solidFill>
                  <a:prstClr val="black"/>
                </a:solidFill>
                <a:latin typeface="ＭＳ Ｐゴシック"/>
              </a:rPr>
              <a:t>＜スライドショー実行中</a:t>
            </a:r>
            <a:r>
              <a:rPr lang="ja-JP" altLang="en-US" sz="2000" b="1" dirty="0">
                <a:solidFill>
                  <a:prstClr val="black"/>
                </a:solidFill>
                <a:latin typeface="ＭＳ Ｐゴシック"/>
              </a:rPr>
              <a:t>＞</a:t>
            </a:r>
            <a:endParaRPr lang="en-US" altLang="ja-JP" sz="2000" b="1" dirty="0">
              <a:solidFill>
                <a:prstClr val="black"/>
              </a:solidFill>
              <a:latin typeface="ＭＳ Ｐゴシック"/>
            </a:endParaRPr>
          </a:p>
          <a:p>
            <a:pPr marL="263525" indent="0"/>
            <a:r>
              <a:rPr kumimoji="1" lang="ja-JP" altLang="en-US" sz="2400" dirty="0">
                <a:latin typeface="+mn-ea"/>
              </a:rPr>
              <a:t> キーボード矢印キー </a:t>
            </a:r>
            <a:r>
              <a:rPr kumimoji="1" lang="en-US" altLang="ja-JP" sz="2400" dirty="0">
                <a:latin typeface="+mn-ea"/>
              </a:rPr>
              <a:t>or </a:t>
            </a:r>
            <a:r>
              <a:rPr kumimoji="1" lang="ja-JP" altLang="en-US" sz="2400" dirty="0">
                <a:latin typeface="+mn-ea"/>
              </a:rPr>
              <a:t>クリックで</a:t>
            </a:r>
            <a:endParaRPr kumimoji="1" lang="en-US" altLang="ja-JP" sz="2400" dirty="0">
              <a:latin typeface="+mn-ea"/>
            </a:endParaRPr>
          </a:p>
          <a:p>
            <a:pPr marL="449263" indent="0">
              <a:buNone/>
            </a:pPr>
            <a:r>
              <a:rPr kumimoji="1" lang="ja-JP" altLang="en-US" sz="2400" dirty="0">
                <a:latin typeface="+mn-ea"/>
              </a:rPr>
              <a:t>　　　　次のスライド・前のスライドへ</a:t>
            </a:r>
            <a:endParaRPr kumimoji="1" lang="en-US" altLang="ja-JP" sz="2400" dirty="0">
              <a:latin typeface="+mn-ea"/>
            </a:endParaRPr>
          </a:p>
          <a:p>
            <a:pPr marL="263525" indent="0"/>
            <a:r>
              <a:rPr lang="ja-JP" altLang="en-US" sz="2400" dirty="0">
                <a:latin typeface="+mn-ea"/>
              </a:rPr>
              <a:t> 右クリックで、各種アイテムが利用できる</a:t>
            </a:r>
            <a:endParaRPr kumimoji="1" lang="en-US" altLang="ja-JP" sz="2400" dirty="0">
              <a:latin typeface="+mn-ea"/>
            </a:endParaRPr>
          </a:p>
        </p:txBody>
      </p:sp>
      <p:pic>
        <p:nvPicPr>
          <p:cNvPr id="4" name="図 3" descr="名称未設定 1のコピー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60" y="3000372"/>
            <a:ext cx="2324100" cy="381000"/>
          </a:xfrm>
          <a:prstGeom prst="rect">
            <a:avLst/>
          </a:prstGeom>
        </p:spPr>
      </p:pic>
      <p:pic>
        <p:nvPicPr>
          <p:cNvPr id="5" name="図 4" descr="名称未設定 2のコピー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0826" y="4000504"/>
            <a:ext cx="2316960" cy="2700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3923928" y="357166"/>
            <a:ext cx="4619996" cy="725470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印刷してみよう</a:t>
            </a:r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4270764" y="1643050"/>
            <a:ext cx="4643470" cy="849846"/>
          </a:xfrm>
        </p:spPr>
        <p:txBody>
          <a:bodyPr>
            <a:normAutofit lnSpcReduction="10000"/>
          </a:bodyPr>
          <a:lstStyle/>
          <a:p>
            <a:r>
              <a:rPr kumimoji="1" lang="ja-JP" altLang="en-US" b="1" dirty="0"/>
              <a:t>「印刷する」と聞いてあわてて</a:t>
            </a:r>
            <a:br>
              <a:rPr kumimoji="1" lang="en-US" altLang="ja-JP" b="1" dirty="0"/>
            </a:br>
            <a:r>
              <a:rPr kumimoji="1" lang="ja-JP" altLang="en-US" b="1" dirty="0"/>
              <a:t>　　ここを</a:t>
            </a:r>
            <a:r>
              <a:rPr lang="ja-JP" altLang="en-US" sz="2800" dirty="0">
                <a:solidFill>
                  <a:srgbClr val="FF0000"/>
                </a:solidFill>
              </a:rPr>
              <a:t>押さない！！</a:t>
            </a:r>
            <a:endParaRPr lang="ja-JP" altLang="en-US" sz="2400" dirty="0"/>
          </a:p>
        </p:txBody>
      </p:sp>
      <p:sp>
        <p:nvSpPr>
          <p:cNvPr id="8" name="コンテンツ プレースホルダ 1"/>
          <p:cNvSpPr txBox="1">
            <a:spLocks/>
          </p:cNvSpPr>
          <p:nvPr/>
        </p:nvSpPr>
        <p:spPr bwMode="auto">
          <a:xfrm>
            <a:off x="4206220" y="1214422"/>
            <a:ext cx="3786214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lang="ja-JP" altLang="en-US" sz="2700" b="1" dirty="0">
                <a:latin typeface="+mn-lt"/>
                <a:ea typeface="+mn-ea"/>
              </a:rPr>
              <a:t>ファイル</a:t>
            </a:r>
            <a:r>
              <a:rPr lang="en-US" altLang="ja-JP" sz="2700" b="1" dirty="0">
                <a:latin typeface="+mn-lt"/>
                <a:ea typeface="+mn-ea"/>
              </a:rPr>
              <a:t>tab</a:t>
            </a:r>
            <a:r>
              <a:rPr kumimoji="1" lang="ja-JP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を</a:t>
            </a:r>
            <a:r>
              <a:rPr lang="ja-JP" altLang="en-US" sz="2700" b="1" dirty="0">
                <a:latin typeface="+mn-lt"/>
                <a:ea typeface="+mn-ea"/>
              </a:rPr>
              <a:t>クリック</a:t>
            </a:r>
            <a:endParaRPr kumimoji="1" lang="ja-JP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コンテンツ プレースホルダ 1"/>
          <p:cNvSpPr txBox="1">
            <a:spLocks/>
          </p:cNvSpPr>
          <p:nvPr/>
        </p:nvSpPr>
        <p:spPr bwMode="auto">
          <a:xfrm>
            <a:off x="4865804" y="3120874"/>
            <a:ext cx="3954668" cy="97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5250" marR="0" lvl="0" indent="1588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lang="ja-JP" altLang="en-US" sz="2800" b="1" dirty="0">
                <a:latin typeface="+mn-lt"/>
                <a:ea typeface="+mn-ea"/>
              </a:rPr>
              <a:t>ここからプリンターとして</a:t>
            </a:r>
            <a:r>
              <a:rPr lang="en-US" altLang="ja-JP" sz="2800" b="1" dirty="0" err="1">
                <a:latin typeface="+mn-lt"/>
                <a:ea typeface="+mn-ea"/>
              </a:rPr>
              <a:t>pdf</a:t>
            </a:r>
            <a:r>
              <a:rPr lang="ja-JP" altLang="en-US" sz="2800" b="1" dirty="0">
                <a:latin typeface="+mn-lt"/>
                <a:ea typeface="+mn-ea"/>
              </a:rPr>
              <a:t>を選択してから印刷</a:t>
            </a:r>
            <a:endParaRPr kumimoji="1" lang="ja-JP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円/楕円 12"/>
          <p:cNvSpPr/>
          <p:nvPr/>
        </p:nvSpPr>
        <p:spPr>
          <a:xfrm>
            <a:off x="2500298" y="3643314"/>
            <a:ext cx="540508" cy="4535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65804" y="4365104"/>
            <a:ext cx="4063914" cy="70788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画面上で印刷結果を見直していると、改善すべき点が見えてきます。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67"/>
            <a:ext cx="4037013" cy="683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右矢印 4"/>
          <p:cNvSpPr/>
          <p:nvPr/>
        </p:nvSpPr>
        <p:spPr>
          <a:xfrm rot="11042202">
            <a:off x="3589883" y="1972319"/>
            <a:ext cx="123267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右矢印 17"/>
          <p:cNvSpPr/>
          <p:nvPr/>
        </p:nvSpPr>
        <p:spPr>
          <a:xfrm rot="10800000">
            <a:off x="3594867" y="3436509"/>
            <a:ext cx="123267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5004048" y="551723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>
                <a:solidFill>
                  <a:srgbClr val="464653"/>
                </a:solidFill>
                <a:latin typeface="Bookman Old Style"/>
                <a:ea typeface="HG明朝E"/>
                <a:cs typeface="+mj-cs"/>
              </a:rPr>
              <a:t>印刷形式の使い分け</a:t>
            </a:r>
            <a:endParaRPr lang="ja-JP" altLang="en-US" sz="1400" dirty="0"/>
          </a:p>
        </p:txBody>
      </p:sp>
      <p:sp>
        <p:nvSpPr>
          <p:cNvPr id="20" name="右矢印 19"/>
          <p:cNvSpPr/>
          <p:nvPr/>
        </p:nvSpPr>
        <p:spPr>
          <a:xfrm rot="9717669">
            <a:off x="3771371" y="6056247"/>
            <a:ext cx="123267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76270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印刷形式の使い分け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71600" y="1628800"/>
            <a:ext cx="7526640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3525" lvl="1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Font typeface="Arial" pitchFamily="34" charset="0"/>
              <a:buChar char="•"/>
            </a:pPr>
            <a:r>
              <a:rPr lang="ja-JP" altLang="en-US" sz="2600" b="1" kern="0" dirty="0">
                <a:solidFill>
                  <a:srgbClr val="000000"/>
                </a:solidFill>
                <a:latin typeface="Verdana"/>
                <a:ea typeface="ＭＳ Ｐゴシック"/>
              </a:rPr>
              <a:t>スライド</a:t>
            </a:r>
            <a:endParaRPr lang="en-US" altLang="ja-JP" sz="2600" b="1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263525" lvl="1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	</a:t>
            </a:r>
            <a:r>
              <a:rPr lang="en-US" altLang="ja-JP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OHP</a:t>
            </a: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や、</a:t>
            </a:r>
            <a:endParaRPr lang="en-US" altLang="ja-JP" sz="2400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263525" lvl="1" indent="449263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ポスター作成時</a:t>
            </a:r>
          </a:p>
          <a:p>
            <a:pPr marL="263525" lvl="1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Font typeface="Arial" pitchFamily="34" charset="0"/>
              <a:buChar char="•"/>
            </a:pPr>
            <a:r>
              <a:rPr lang="ja-JP" altLang="en-US" sz="2600" b="1" kern="0" dirty="0">
                <a:solidFill>
                  <a:srgbClr val="000000"/>
                </a:solidFill>
                <a:latin typeface="Verdana"/>
                <a:ea typeface="ＭＳ Ｐゴシック"/>
              </a:rPr>
              <a:t>配付資料	</a:t>
            </a:r>
            <a:endParaRPr lang="en-US" altLang="ja-JP" sz="2600" b="1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720725" lvl="2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参加者に配る</a:t>
            </a:r>
          </a:p>
          <a:p>
            <a:pPr marL="263525" lvl="1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Font typeface="Arial" pitchFamily="34" charset="0"/>
              <a:buChar char="•"/>
            </a:pPr>
            <a:r>
              <a:rPr lang="ja-JP" altLang="en-US" sz="2600" b="1" kern="0" dirty="0">
                <a:solidFill>
                  <a:srgbClr val="000000"/>
                </a:solidFill>
                <a:latin typeface="Verdana"/>
                <a:ea typeface="ＭＳ Ｐゴシック"/>
              </a:rPr>
              <a:t>ノート	</a:t>
            </a:r>
            <a:r>
              <a:rPr lang="ja-JP" altLang="en-US" sz="2600" kern="0" dirty="0">
                <a:solidFill>
                  <a:srgbClr val="000000"/>
                </a:solidFill>
                <a:latin typeface="Verdana"/>
                <a:ea typeface="ＭＳ Ｐゴシック"/>
              </a:rPr>
              <a:t>	</a:t>
            </a:r>
            <a:endParaRPr lang="en-US" altLang="ja-JP" sz="2600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449263" lvl="2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発表練習用に記述したノートも印刷</a:t>
            </a:r>
          </a:p>
          <a:p>
            <a:pPr marL="263525" lvl="1" indent="-263525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Font typeface="Arial" pitchFamily="34" charset="0"/>
              <a:buChar char="•"/>
            </a:pPr>
            <a:r>
              <a:rPr lang="ja-JP" altLang="en-US" sz="2600" b="1" kern="0" dirty="0">
                <a:solidFill>
                  <a:srgbClr val="000000"/>
                </a:solidFill>
                <a:latin typeface="Verdana"/>
                <a:ea typeface="ＭＳ Ｐゴシック"/>
              </a:rPr>
              <a:t>アウトライン表示</a:t>
            </a:r>
            <a:endParaRPr lang="en-US" altLang="ja-JP" sz="2600" b="1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263525" lvl="1" indent="185738" defTabSz="263525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テキストのみを表示</a:t>
            </a:r>
          </a:p>
          <a:p>
            <a:pPr marL="263525" indent="-263525" defTabSz="263525"/>
            <a:endParaRPr kumimoji="1" lang="ja-JP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スライドの編集（</a:t>
            </a:r>
            <a:r>
              <a:rPr kumimoji="1" lang="en-US" altLang="ja-JP" sz="3600" dirty="0"/>
              <a:t>1</a:t>
            </a:r>
            <a:r>
              <a:rPr kumimoji="1" lang="ja-JP" altLang="en-US" sz="3600" dirty="0"/>
              <a:t>）箇条書き</a:t>
            </a:r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428596" y="1142984"/>
            <a:ext cx="8229600" cy="1071570"/>
          </a:xfrm>
        </p:spPr>
        <p:txBody>
          <a:bodyPr/>
          <a:lstStyle/>
          <a:p>
            <a:pPr algn="ctr">
              <a:buNone/>
            </a:pPr>
            <a:r>
              <a:rPr kumimoji="1" lang="ja-JP" altLang="en-US" dirty="0"/>
              <a:t>新しいスライドを追加する</a:t>
            </a:r>
            <a:endParaRPr kumimoji="1" lang="en-US" altLang="ja-JP" dirty="0"/>
          </a:p>
          <a:p>
            <a:pPr algn="ctr">
              <a:buNone/>
            </a:pPr>
            <a:r>
              <a:rPr lang="ja-JP" altLang="en-US" sz="2000" b="1" dirty="0">
                <a:solidFill>
                  <a:prstClr val="black"/>
                </a:solidFill>
                <a:latin typeface="Arial" charset="0"/>
                <a:ea typeface="ＭＳ Ｐゴシック" charset="-128"/>
              </a:rPr>
              <a:t>「</a:t>
            </a:r>
            <a:r>
              <a:rPr lang="ja-JP" altLang="en-US" sz="2400" b="1" dirty="0">
                <a:solidFill>
                  <a:prstClr val="black"/>
                </a:solidFill>
                <a:latin typeface="Arial" charset="0"/>
                <a:ea typeface="ＭＳ Ｐゴシック" charset="-128"/>
              </a:rPr>
              <a:t>表示」タブより「ルーラー」を表示させておくと便利！</a:t>
            </a:r>
            <a:endParaRPr kumimoji="1" lang="en-US" altLang="ja-JP" b="1" dirty="0"/>
          </a:p>
          <a:p>
            <a:pPr algn="ctr">
              <a:buNone/>
            </a:pP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79842" y="2229381"/>
            <a:ext cx="8072494" cy="37302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スライド表題の記入</a:t>
            </a: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箇条書き本体の記入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改行で新しい項目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en-US" altLang="ja-JP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Tab</a:t>
            </a: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キーで小項目に移行</a:t>
            </a:r>
          </a:p>
          <a:p>
            <a:pPr marL="1347788" lvl="2" indent="-43815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l"/>
            </a:pPr>
            <a:r>
              <a:rPr lang="ja-JP" altLang="en-US" kern="0" dirty="0">
                <a:solidFill>
                  <a:srgbClr val="000000"/>
                </a:solidFill>
                <a:latin typeface="Verdana"/>
                <a:ea typeface="ＭＳ Ｐゴシック"/>
              </a:rPr>
              <a:t>小項目は小さなフォント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en-US" altLang="ja-JP" sz="2400" kern="0" dirty="0" err="1">
                <a:solidFill>
                  <a:srgbClr val="000000"/>
                </a:solidFill>
                <a:latin typeface="Verdana"/>
                <a:ea typeface="ＭＳ Ｐゴシック"/>
              </a:rPr>
              <a:t>shift+Tab</a:t>
            </a: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で大項目へ戻る</a:t>
            </a: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範囲を選択し、右クリック「箇条書き」</a:t>
            </a:r>
            <a:r>
              <a:rPr lang="en-US" altLang="ja-JP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or</a:t>
            </a: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「段落番号」の中にある「箇条書きと段落番号」で形式を指定</a:t>
            </a:r>
          </a:p>
          <a:p>
            <a:pPr marL="571500" lvl="0" indent="-571500" algn="ctr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Wingdings" pitchFamily="2" charset="2"/>
              <a:buAutoNum type="arabicPeriod"/>
            </a:pP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字の</a:t>
            </a:r>
            <a:r>
              <a:rPr lang="ja-JP" altLang="en-US" sz="2400" kern="0" dirty="0">
                <a:solidFill>
                  <a:srgbClr val="339966"/>
                </a:solidFill>
                <a:latin typeface="Verdana"/>
                <a:ea typeface="ＭＳ Ｐゴシック"/>
              </a:rPr>
              <a:t>色</a:t>
            </a:r>
            <a:r>
              <a:rPr lang="ja-JP" altLang="en-US" sz="2400" kern="0" dirty="0">
                <a:solidFill>
                  <a:srgbClr val="000000"/>
                </a:solidFill>
                <a:latin typeface="Verdana"/>
                <a:ea typeface="ＭＳ Ｐゴシック"/>
              </a:rPr>
              <a:t>，</a:t>
            </a:r>
            <a:r>
              <a:rPr lang="ja-JP" altLang="en-US" sz="3600" kern="0" dirty="0">
                <a:solidFill>
                  <a:srgbClr val="000000"/>
                </a:solidFill>
                <a:latin typeface="Verdana"/>
                <a:ea typeface="ＭＳ Ｐゴシック"/>
              </a:rPr>
              <a:t>サイズ</a:t>
            </a:r>
            <a:r>
              <a:rPr lang="en-US" altLang="ja-JP" sz="2400" kern="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lang="ja-JP" altLang="en-US" sz="2400" kern="0" dirty="0">
                <a:solidFill>
                  <a:srgbClr val="000000"/>
                </a:solidFill>
                <a:latin typeface="+mj-ea"/>
                <a:ea typeface="+mj-ea"/>
              </a:rPr>
              <a:t>フォントなどを変更</a:t>
            </a:r>
            <a:endParaRPr lang="ja-JP" altLang="en-US" sz="2400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kumimoji="1" lang="ja-JP" altLang="en-US" sz="2400" dirty="0"/>
              <a:t>「ホーム」→「クイックスタイル」を選択し、色づけをする。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929454" y="6143644"/>
            <a:ext cx="1928826" cy="52322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latin typeface="Bodoni MT Black" pitchFamily="18" charset="0"/>
                <a:ea typeface="New Gulim" pitchFamily="18" charset="-127"/>
              </a:rPr>
              <a:t>Ctrl + S</a:t>
            </a:r>
            <a:endParaRPr kumimoji="1" lang="ja-JP" altLang="en-US" sz="2800" b="1" dirty="0">
              <a:latin typeface="Bodoni MT Black" pitchFamily="18" charset="0"/>
              <a:ea typeface="New Gulim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14380"/>
          </a:xfrm>
        </p:spPr>
        <p:txBody>
          <a:bodyPr>
            <a:normAutofit/>
          </a:bodyPr>
          <a:lstStyle/>
          <a:p>
            <a:pPr algn="ctr"/>
            <a:r>
              <a:rPr lang="ja-JP" altLang="en-US" sz="3600" dirty="0"/>
              <a:t>スライドの編集（</a:t>
            </a:r>
            <a:r>
              <a:rPr lang="en-US" altLang="ja-JP" sz="3600" dirty="0"/>
              <a:t>2</a:t>
            </a:r>
            <a:r>
              <a:rPr lang="ja-JP" altLang="en-US" sz="3600" dirty="0"/>
              <a:t>）図・文字の挿入</a:t>
            </a:r>
            <a:endParaRPr kumimoji="1" lang="ja-JP" altLang="en-US" sz="3600" dirty="0"/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1857356" y="928670"/>
            <a:ext cx="5357850" cy="519102"/>
          </a:xfrm>
        </p:spPr>
        <p:txBody>
          <a:bodyPr/>
          <a:lstStyle/>
          <a:p>
            <a:pPr algn="ctr">
              <a:buNone/>
            </a:pPr>
            <a:r>
              <a:rPr lang="ja-JP" altLang="en-US" dirty="0"/>
              <a:t>新しいスライドを追加する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1026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2357430"/>
            <a:ext cx="1259589" cy="1285884"/>
          </a:xfrm>
          <a:prstGeom prst="rect">
            <a:avLst/>
          </a:prstGeom>
          <a:noFill/>
        </p:spPr>
      </p:pic>
      <p:sp>
        <p:nvSpPr>
          <p:cNvPr id="8" name="下矢印 7"/>
          <p:cNvSpPr/>
          <p:nvPr/>
        </p:nvSpPr>
        <p:spPr>
          <a:xfrm rot="19436966">
            <a:off x="7128075" y="3650903"/>
            <a:ext cx="546042" cy="8526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857884" y="3714752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いまは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929586" y="4143380"/>
            <a:ext cx="8239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dirty="0"/>
              <a:t>この後</a:t>
            </a:r>
          </a:p>
        </p:txBody>
      </p:sp>
      <p:sp>
        <p:nvSpPr>
          <p:cNvPr id="11" name="雲形吹き出し 10"/>
          <p:cNvSpPr/>
          <p:nvPr/>
        </p:nvSpPr>
        <p:spPr>
          <a:xfrm>
            <a:off x="7286644" y="1928802"/>
            <a:ext cx="1857356" cy="1143008"/>
          </a:xfrm>
          <a:prstGeom prst="cloudCallout">
            <a:avLst>
              <a:gd name="adj1" fmla="val -70923"/>
              <a:gd name="adj2" fmla="val 231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おなかすいたなぁ。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85720" y="1500174"/>
            <a:ext cx="678661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9875">
              <a:buFont typeface="+mj-lt"/>
              <a:buAutoNum type="arabicPeriod"/>
            </a:pPr>
            <a:r>
              <a:rPr kumimoji="1" lang="ja-JP" altLang="en-US" sz="2400" dirty="0"/>
              <a:t>前のスライドの箇条書きテキストボックスをコピー</a:t>
            </a:r>
            <a:endParaRPr kumimoji="1" lang="en-US" altLang="ja-JP" sz="24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左半分に配置し、右側には図を挿入する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r>
              <a:rPr kumimoji="1" lang="ja-JP" altLang="en-US" sz="2400" dirty="0"/>
              <a:t>「挿入」タブよりクリップアート</a:t>
            </a:r>
            <a:r>
              <a:rPr lang="ja-JP" altLang="en-US" sz="2400" dirty="0"/>
              <a:t>を選択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r>
              <a:rPr kumimoji="1" lang="ja-JP" altLang="en-US" sz="2400" dirty="0"/>
              <a:t>キーワードを入れて検索する</a:t>
            </a:r>
            <a:endParaRPr kumimoji="1" lang="en-US" altLang="ja-JP" sz="24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適宜サイズ・レイアウトを変更する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endParaRPr kumimoji="1" lang="en-US" altLang="ja-JP" sz="14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「挿入」タブより「図形」の「矢印」を選択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r>
              <a:rPr lang="ja-JP" altLang="en-US" sz="2000" dirty="0"/>
              <a:t>（図形をダブルクリックして描画ツールタブを表示</a:t>
            </a:r>
            <a:r>
              <a:rPr lang="ja-JP" altLang="en-US" dirty="0"/>
              <a:t>）</a:t>
            </a:r>
            <a:endParaRPr lang="en-US" altLang="ja-JP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 線の太さや輪郭を変更し、回転させる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endParaRPr lang="en-US" altLang="ja-JP" sz="11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「挿入」タブより「テキストボックス」を追加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“いまは” “この後”とテキストを入力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endParaRPr lang="en-US" altLang="ja-JP" sz="12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「挿入」タブより「図形」の「吹き出し」を選択</a:t>
            </a:r>
            <a:endParaRPr lang="en-US" altLang="ja-JP" sz="2400" dirty="0"/>
          </a:p>
          <a:p>
            <a:pPr indent="269875">
              <a:buFont typeface="+mj-lt"/>
              <a:buAutoNum type="arabicPeriod"/>
            </a:pPr>
            <a:r>
              <a:rPr lang="ja-JP" altLang="en-US" sz="2400" dirty="0"/>
              <a:t>図形を右クリックし「テキストの編集」より入力</a:t>
            </a:r>
            <a:endParaRPr lang="en-US" altLang="ja-JP" sz="24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015882" y="6252086"/>
            <a:ext cx="1928826" cy="52322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latin typeface="Bodoni MT Black" pitchFamily="18" charset="0"/>
                <a:ea typeface="New Gulim" pitchFamily="18" charset="-127"/>
              </a:rPr>
              <a:t>Ctrl + S</a:t>
            </a:r>
            <a:endParaRPr kumimoji="1" lang="ja-JP" altLang="en-US" sz="2800" b="1" dirty="0">
              <a:latin typeface="Bodoni MT Black" pitchFamily="18" charset="0"/>
              <a:ea typeface="New Gulim" pitchFamily="18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571" y="4643446"/>
            <a:ext cx="2044440" cy="114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47708"/>
          </a:xfrm>
        </p:spPr>
        <p:txBody>
          <a:bodyPr>
            <a:normAutofit/>
          </a:bodyPr>
          <a:lstStyle/>
          <a:p>
            <a:pPr algn="ctr"/>
            <a:r>
              <a:rPr lang="ja-JP" altLang="en-US" sz="3600" dirty="0"/>
              <a:t>スライドの編集（</a:t>
            </a:r>
            <a:r>
              <a:rPr lang="en-US" altLang="ja-JP" sz="3600" dirty="0"/>
              <a:t>2</a:t>
            </a:r>
            <a:r>
              <a:rPr lang="ja-JP" altLang="en-US" sz="3600" dirty="0"/>
              <a:t>）完成予想図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5720" y="1571612"/>
            <a:ext cx="4214842" cy="415498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スライド表題の記入</a:t>
            </a: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箇条書き本体の記入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改行で新しい項目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en-US" altLang="ja-JP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Tab</a:t>
            </a: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キーで小項目に移行</a:t>
            </a:r>
          </a:p>
          <a:p>
            <a:pPr marL="1347788" lvl="2" indent="-43815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l"/>
            </a:pPr>
            <a:r>
              <a:rPr lang="ja-JP" altLang="en-US" sz="1600" kern="0" dirty="0">
                <a:solidFill>
                  <a:srgbClr val="000000"/>
                </a:solidFill>
                <a:latin typeface="Verdana"/>
                <a:ea typeface="ＭＳ Ｐゴシック"/>
              </a:rPr>
              <a:t>小項目は小さなフォント</a:t>
            </a:r>
          </a:p>
          <a:p>
            <a:pPr marL="966788" lvl="1" indent="-4953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circleNumDbPlain"/>
            </a:pPr>
            <a:r>
              <a:rPr lang="en-US" altLang="ja-JP" sz="2000" kern="0" dirty="0" err="1">
                <a:solidFill>
                  <a:srgbClr val="000000"/>
                </a:solidFill>
                <a:latin typeface="Verdana"/>
                <a:ea typeface="ＭＳ Ｐゴシック"/>
              </a:rPr>
              <a:t>shift+Tab</a:t>
            </a: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で大項目へ戻る</a:t>
            </a: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範囲を選択し、右クリック「箇条書き」</a:t>
            </a:r>
            <a:r>
              <a:rPr lang="en-US" altLang="ja-JP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or</a:t>
            </a: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「段落番号」の中にある「箇条書きと段落番号」で形式を指定</a:t>
            </a:r>
          </a:p>
          <a:p>
            <a:pPr marL="571500" lvl="0" indent="-571500" algn="ctr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Wingdings" pitchFamily="2" charset="2"/>
              <a:buAutoNum type="arabicPeriod"/>
            </a:pP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字の</a:t>
            </a:r>
            <a:r>
              <a:rPr lang="ja-JP" altLang="en-US" sz="2000" kern="0" dirty="0">
                <a:solidFill>
                  <a:srgbClr val="339966"/>
                </a:solidFill>
                <a:latin typeface="Verdana"/>
                <a:ea typeface="ＭＳ Ｐゴシック"/>
              </a:rPr>
              <a:t>色</a:t>
            </a:r>
            <a:r>
              <a:rPr lang="ja-JP" altLang="en-US" sz="2000" kern="0" dirty="0">
                <a:solidFill>
                  <a:srgbClr val="000000"/>
                </a:solidFill>
                <a:latin typeface="Verdana"/>
                <a:ea typeface="ＭＳ Ｐゴシック"/>
              </a:rPr>
              <a:t>，</a:t>
            </a:r>
            <a:r>
              <a:rPr lang="ja-JP" altLang="en-US" sz="3200" kern="0" dirty="0">
                <a:solidFill>
                  <a:srgbClr val="000000"/>
                </a:solidFill>
                <a:latin typeface="Verdana"/>
                <a:ea typeface="ＭＳ Ｐゴシック"/>
              </a:rPr>
              <a:t>サイズ</a:t>
            </a:r>
            <a:r>
              <a:rPr lang="en-US" altLang="ja-JP" sz="2000" kern="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lang="ja-JP" altLang="en-US" sz="2000" kern="0" dirty="0">
                <a:solidFill>
                  <a:srgbClr val="000000"/>
                </a:solidFill>
                <a:latin typeface="+mj-ea"/>
                <a:ea typeface="+mj-ea"/>
              </a:rPr>
              <a:t>フォントなどを変更</a:t>
            </a:r>
            <a:endParaRPr lang="ja-JP" altLang="en-US" sz="2000" kern="0" dirty="0">
              <a:solidFill>
                <a:srgbClr val="000000"/>
              </a:solidFill>
              <a:latin typeface="Verdana"/>
              <a:ea typeface="ＭＳ Ｐゴシック"/>
            </a:endParaRPr>
          </a:p>
          <a:p>
            <a:pPr marL="571500" lvl="0" indent="-571500">
              <a:lnSpc>
                <a:spcPct val="80000"/>
              </a:lnSpc>
              <a:spcBef>
                <a:spcPct val="20000"/>
              </a:spcBef>
              <a:buClr>
                <a:srgbClr val="CC0000"/>
              </a:buClr>
              <a:buFont typeface="Wingdings" pitchFamily="2" charset="2"/>
              <a:buAutoNum type="arabicPeriod"/>
            </a:pPr>
            <a:r>
              <a:rPr lang="ja-JP" altLang="en-US" sz="2000" dirty="0"/>
              <a:t>「ホーム」→「クイックスタイル」を選択し、色づけをする。</a:t>
            </a:r>
          </a:p>
        </p:txBody>
      </p:sp>
      <p:pic>
        <p:nvPicPr>
          <p:cNvPr id="5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857364"/>
            <a:ext cx="1259589" cy="1285884"/>
          </a:xfrm>
          <a:prstGeom prst="rect">
            <a:avLst/>
          </a:prstGeom>
          <a:noFill/>
        </p:spPr>
      </p:pic>
      <p:sp>
        <p:nvSpPr>
          <p:cNvPr id="7" name="下矢印 6"/>
          <p:cNvSpPr/>
          <p:nvPr/>
        </p:nvSpPr>
        <p:spPr>
          <a:xfrm rot="19436966">
            <a:off x="6199381" y="3150837"/>
            <a:ext cx="546042" cy="8526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929190" y="321468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いまは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7000892" y="3643314"/>
            <a:ext cx="8239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dirty="0"/>
              <a:t>この後</a:t>
            </a:r>
          </a:p>
        </p:txBody>
      </p:sp>
      <p:sp>
        <p:nvSpPr>
          <p:cNvPr id="10" name="雲形吹き出し 9"/>
          <p:cNvSpPr/>
          <p:nvPr/>
        </p:nvSpPr>
        <p:spPr>
          <a:xfrm>
            <a:off x="6357950" y="1428736"/>
            <a:ext cx="2286016" cy="1643074"/>
          </a:xfrm>
          <a:prstGeom prst="cloudCallout">
            <a:avLst>
              <a:gd name="adj1" fmla="val -70923"/>
              <a:gd name="adj2" fmla="val 231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おなかすいたなぁ。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364" y="4221088"/>
            <a:ext cx="2696241" cy="150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lang="ja-JP" altLang="en-US" sz="3600" dirty="0"/>
              <a:t>スライドの編集（</a:t>
            </a:r>
            <a:r>
              <a:rPr lang="en-US" altLang="ja-JP" sz="3600" dirty="0"/>
              <a:t>3</a:t>
            </a:r>
            <a:r>
              <a:rPr lang="ja-JP" altLang="en-US" sz="3600" dirty="0"/>
              <a:t>）図の編集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14282" y="1142984"/>
            <a:ext cx="850112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>
              <a:buFont typeface="+mj-lt"/>
              <a:buAutoNum type="arabicPeriod"/>
            </a:pPr>
            <a:r>
              <a:rPr lang="ja-JP" altLang="en-US" sz="2400" dirty="0"/>
              <a:t>新しいスライドを用意する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 dirty="0"/>
              <a:t>「挿入」タブより、「図」を選択する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/>
              <a:t>task</a:t>
            </a:r>
            <a:r>
              <a:rPr lang="ja-JP" altLang="en-US" sz="2400"/>
              <a:t>」</a:t>
            </a:r>
            <a:r>
              <a:rPr lang="ja-JP" altLang="en-US" sz="2400" dirty="0"/>
              <a:t>フォルダを</a:t>
            </a:r>
            <a:r>
              <a:rPr lang="ja-JP" altLang="en-US" sz="2400"/>
              <a:t>開き</a:t>
            </a:r>
            <a:r>
              <a:rPr lang="ja-JP" altLang="en-US" sz="2400">
                <a:solidFill>
                  <a:prstClr val="black"/>
                </a:solidFill>
              </a:rPr>
              <a:t>「</a:t>
            </a:r>
            <a:r>
              <a:rPr lang="en-US" altLang="ja-JP" sz="2400" dirty="0" err="1">
                <a:solidFill>
                  <a:prstClr val="black"/>
                </a:solidFill>
              </a:rPr>
              <a:t>Gabit.jpg</a:t>
            </a:r>
            <a:r>
              <a:rPr lang="ja-JP" altLang="en-US" sz="2400" dirty="0">
                <a:solidFill>
                  <a:prstClr val="black"/>
                </a:solidFill>
              </a:rPr>
              <a:t>」を挿入</a:t>
            </a:r>
            <a:endParaRPr lang="en-US" altLang="ja-JP" sz="2400" dirty="0">
              <a:solidFill>
                <a:prstClr val="black"/>
              </a:solidFill>
            </a:endParaRPr>
          </a:p>
          <a:p>
            <a:pPr indent="449263">
              <a:buFont typeface="+mj-lt"/>
              <a:buAutoNum type="arabicPeriod"/>
            </a:pPr>
            <a:r>
              <a:rPr lang="ja-JP" altLang="en-US" sz="2400" dirty="0">
                <a:solidFill>
                  <a:prstClr val="black"/>
                </a:solidFill>
              </a:rPr>
              <a:t>同様に</a:t>
            </a:r>
            <a:r>
              <a:rPr lang="ja-JP" altLang="en-US" sz="2400">
                <a:solidFill>
                  <a:prstClr val="black"/>
                </a:solidFill>
              </a:rPr>
              <a:t>して「</a:t>
            </a:r>
            <a:r>
              <a:rPr lang="en-US" altLang="ja-JP" sz="2400" dirty="0" err="1">
                <a:solidFill>
                  <a:prstClr val="black"/>
                </a:solidFill>
              </a:rPr>
              <a:t>Doara.jpg</a:t>
            </a:r>
            <a:r>
              <a:rPr lang="ja-JP" altLang="en-US" sz="2400" dirty="0">
                <a:solidFill>
                  <a:prstClr val="black"/>
                </a:solidFill>
              </a:rPr>
              <a:t>」も挿入し、一部を重ね合わせる</a:t>
            </a:r>
            <a:endParaRPr lang="en-US" altLang="ja-JP" sz="2400" dirty="0">
              <a:solidFill>
                <a:prstClr val="black"/>
              </a:solidFill>
            </a:endParaRPr>
          </a:p>
          <a:p>
            <a:pPr indent="449263">
              <a:buFont typeface="+mj-lt"/>
              <a:buAutoNum type="arabicPeriod"/>
            </a:pPr>
            <a:r>
              <a:rPr lang="ja-JP" altLang="en-US" sz="2400">
                <a:solidFill>
                  <a:prstClr val="black"/>
                </a:solidFill>
              </a:rPr>
              <a:t>「</a:t>
            </a:r>
            <a:r>
              <a:rPr lang="en-US" altLang="ja-JP" sz="2400">
                <a:solidFill>
                  <a:prstClr val="black"/>
                </a:solidFill>
              </a:rPr>
              <a:t>Doara</a:t>
            </a:r>
            <a:r>
              <a:rPr lang="ja-JP" altLang="en-US" sz="2400">
                <a:solidFill>
                  <a:prstClr val="black"/>
                </a:solidFill>
              </a:rPr>
              <a:t>」をクリック</a:t>
            </a:r>
            <a:r>
              <a:rPr lang="ja-JP" altLang="en-US" sz="2400" dirty="0">
                <a:solidFill>
                  <a:prstClr val="black"/>
                </a:solidFill>
              </a:rPr>
              <a:t>し、</a:t>
            </a:r>
            <a:r>
              <a:rPr lang="ja-JP" altLang="en-US" sz="2400">
                <a:solidFill>
                  <a:prstClr val="black"/>
                </a:solidFill>
              </a:rPr>
              <a:t>「図の形式」タブを選択</a:t>
            </a:r>
            <a:endParaRPr lang="en-US" altLang="ja-JP" sz="2400" dirty="0">
              <a:solidFill>
                <a:prstClr val="black"/>
              </a:solidFill>
            </a:endParaRPr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左「色」</a:t>
            </a:r>
            <a:r>
              <a:rPr lang="ja-JP" altLang="en-US" sz="2400" dirty="0"/>
              <a:t>を</a:t>
            </a:r>
            <a:r>
              <a:rPr lang="ja-JP" altLang="en-US" sz="2400"/>
              <a:t>クリック、下の方にある「</a:t>
            </a:r>
            <a:r>
              <a:rPr lang="ja-JP" altLang="en-US" sz="2400" dirty="0"/>
              <a:t>透明色を指定」を選択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>
                <a:solidFill>
                  <a:prstClr val="black"/>
                </a:solidFill>
              </a:rPr>
              <a:t> </a:t>
            </a:r>
            <a:r>
              <a:rPr lang="en-US" altLang="ja-JP" sz="2400" dirty="0" err="1">
                <a:solidFill>
                  <a:prstClr val="black"/>
                </a:solidFill>
              </a:rPr>
              <a:t>Doara</a:t>
            </a:r>
            <a:r>
              <a:rPr lang="ja-JP" altLang="en-US" sz="2400"/>
              <a:t>」</a:t>
            </a:r>
            <a:r>
              <a:rPr lang="ja-JP" altLang="en-US" sz="2400" dirty="0"/>
              <a:t>図の白色になっている部分をクリックすると・・・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 err="1"/>
              <a:t>Gabit</a:t>
            </a:r>
            <a:r>
              <a:rPr lang="ja-JP" altLang="en-US" sz="2400"/>
              <a:t>」</a:t>
            </a:r>
            <a:r>
              <a:rPr lang="ja-JP" altLang="en-US" sz="2400" dirty="0"/>
              <a:t>も同様に透明色を指定する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endParaRPr lang="en-US" altLang="ja-JP" sz="2000" dirty="0"/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 err="1"/>
              <a:t>Doara</a:t>
            </a:r>
            <a:r>
              <a:rPr lang="ja-JP" altLang="en-US" sz="2400"/>
              <a:t>」</a:t>
            </a:r>
            <a:r>
              <a:rPr lang="ja-JP" altLang="en-US" sz="2400" dirty="0"/>
              <a:t>図を右クリックし、「最背面へ移動」「最前面へ移動」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 err="1"/>
              <a:t>Truckey.gif</a:t>
            </a:r>
            <a:r>
              <a:rPr lang="ja-JP" altLang="en-US" sz="2400" dirty="0"/>
              <a:t>」を挿入し、適宜サイズ調整</a:t>
            </a:r>
            <a:endParaRPr lang="en-US" altLang="ja-JP" sz="2400" dirty="0"/>
          </a:p>
          <a:p>
            <a:pPr indent="449263">
              <a:buFont typeface="+mj-lt"/>
              <a:buAutoNum type="arabicPeriod"/>
            </a:pPr>
            <a:r>
              <a:rPr lang="ja-JP" altLang="en-US" sz="2400" dirty="0">
                <a:solidFill>
                  <a:prstClr val="black"/>
                </a:solidFill>
              </a:rPr>
              <a:t>今日現在の順位になるように、それぞれ背面・前面へ移動</a:t>
            </a:r>
            <a:endParaRPr lang="en-US" altLang="ja-JP" sz="2400" dirty="0">
              <a:solidFill>
                <a:prstClr val="black"/>
              </a:solidFill>
            </a:endParaRPr>
          </a:p>
          <a:p>
            <a:pPr indent="449263">
              <a:buFont typeface="+mj-lt"/>
              <a:buAutoNum type="arabicPeriod"/>
            </a:pPr>
            <a:r>
              <a:rPr lang="en-US" altLang="ja-JP" sz="2400" dirty="0">
                <a:solidFill>
                  <a:prstClr val="black"/>
                </a:solidFill>
              </a:rPr>
              <a:t>Shift</a:t>
            </a:r>
            <a:r>
              <a:rPr lang="ja-JP" altLang="en-US" sz="2400" dirty="0">
                <a:solidFill>
                  <a:prstClr val="black"/>
                </a:solidFill>
              </a:rPr>
              <a:t>キーを押しながら、３つの画像を選択し右クリック</a:t>
            </a:r>
            <a:endParaRPr lang="en-US" altLang="ja-JP" sz="2400" dirty="0">
              <a:solidFill>
                <a:prstClr val="black"/>
              </a:solidFill>
            </a:endParaRPr>
          </a:p>
          <a:p>
            <a:pPr indent="449263">
              <a:buFont typeface="+mj-lt"/>
              <a:buAutoNum type="arabicPeriod"/>
            </a:pPr>
            <a:r>
              <a:rPr lang="ja-JP" altLang="en-US" sz="2400" dirty="0">
                <a:solidFill>
                  <a:prstClr val="black"/>
                </a:solidFill>
              </a:rPr>
              <a:t>「グループ化」を選択し、サイズ調整・移動を行う</a:t>
            </a:r>
            <a:endParaRPr lang="en-US" altLang="ja-JP" sz="2400" dirty="0">
              <a:solidFill>
                <a:prstClr val="black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858016" y="6143644"/>
            <a:ext cx="1928826" cy="52322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latin typeface="Bodoni MT Black" pitchFamily="18" charset="0"/>
                <a:ea typeface="New Gulim" pitchFamily="18" charset="-127"/>
              </a:rPr>
              <a:t>Ctrl + S</a:t>
            </a:r>
            <a:endParaRPr kumimoji="1" lang="ja-JP" altLang="en-US" sz="2800" b="1" dirty="0">
              <a:latin typeface="Bodoni MT Black" pitchFamily="18" charset="0"/>
              <a:ea typeface="New Gulim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47708"/>
          </a:xfrm>
        </p:spPr>
        <p:txBody>
          <a:bodyPr/>
          <a:lstStyle/>
          <a:p>
            <a:pPr algn="ctr"/>
            <a:r>
              <a:rPr lang="ja-JP" altLang="en-US" dirty="0"/>
              <a:t>スライドの編集（</a:t>
            </a:r>
            <a:r>
              <a:rPr lang="en-US" altLang="ja-JP" dirty="0"/>
              <a:t>3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完成予想図</a:t>
            </a:r>
            <a:endParaRPr kumimoji="1" lang="ja-JP" altLang="en-US" dirty="0"/>
          </a:p>
        </p:txBody>
      </p:sp>
      <p:pic>
        <p:nvPicPr>
          <p:cNvPr id="4" name="図 3" descr="ジャビット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5008" y="3357562"/>
            <a:ext cx="2265859" cy="2786082"/>
          </a:xfrm>
          <a:prstGeom prst="rect">
            <a:avLst/>
          </a:prstGeom>
        </p:spPr>
      </p:pic>
      <p:pic>
        <p:nvPicPr>
          <p:cNvPr id="5" name="図 4" descr="ドアラ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8926" y="2214554"/>
            <a:ext cx="3357586" cy="3814535"/>
          </a:xfrm>
          <a:prstGeom prst="rect">
            <a:avLst/>
          </a:prstGeom>
        </p:spPr>
      </p:pic>
      <p:pic>
        <p:nvPicPr>
          <p:cNvPr id="6" name="図 5" descr="だんじりトラッキー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14422"/>
            <a:ext cx="4643470" cy="4829829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3929058" y="1214422"/>
            <a:ext cx="50016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1" cap="none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セントラルリ－グ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名称未設定 1のコピー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451" y="5083185"/>
            <a:ext cx="3696619" cy="1639905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スライドの編集（</a:t>
            </a:r>
            <a:r>
              <a:rPr kumimoji="1" lang="en-US" altLang="ja-JP" sz="3600" dirty="0"/>
              <a:t>4</a:t>
            </a:r>
            <a:r>
              <a:rPr kumimoji="1" lang="ja-JP" altLang="en-US" sz="3600" dirty="0"/>
              <a:t>）表の挿入</a:t>
            </a:r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01038" cy="5072098"/>
          </a:xfrm>
        </p:spPr>
        <p:txBody>
          <a:bodyPr>
            <a:normAutofit lnSpcReduction="10000"/>
          </a:bodyPr>
          <a:lstStyle/>
          <a:p>
            <a:pPr marL="623887" indent="-514350">
              <a:lnSpc>
                <a:spcPct val="90000"/>
              </a:lnSpc>
              <a:buFont typeface="+mj-lt"/>
              <a:buAutoNum type="arabicPeriod"/>
            </a:pPr>
            <a:r>
              <a:rPr lang="ja-JP" altLang="en-US" sz="2400" dirty="0"/>
              <a:t>新しいスライドを挿入</a:t>
            </a:r>
          </a:p>
          <a:p>
            <a:pPr marL="623887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ja-JP" sz="2400" dirty="0"/>
              <a:t>Word</a:t>
            </a:r>
            <a:r>
              <a:rPr lang="ja-JP" altLang="en-US" sz="2400" dirty="0"/>
              <a:t>で表を作る．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/>
            </a:pPr>
            <a:r>
              <a:rPr lang="ja-JP" altLang="en-US" sz="2400" dirty="0"/>
              <a:t>表をコピーし</a:t>
            </a:r>
            <a:endParaRPr lang="en-US" altLang="ja-JP" sz="2400" dirty="0"/>
          </a:p>
          <a:p>
            <a:pPr marL="622300" indent="366713">
              <a:lnSpc>
                <a:spcPct val="90000"/>
              </a:lnSpc>
              <a:buNone/>
            </a:pPr>
            <a:r>
              <a:rPr lang="ja-JP" altLang="en-US" sz="2400" dirty="0"/>
              <a:t>スライドに貼り付け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/>
            </a:pP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ja-JP" altLang="en-US" sz="2400" dirty="0"/>
              <a:t>「挿入」タブより表をクリック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r>
              <a:rPr kumimoji="1" lang="en-US" altLang="ja-JP" sz="2400" dirty="0"/>
              <a:t>2</a:t>
            </a:r>
            <a:r>
              <a:rPr kumimoji="1" lang="ja-JP" altLang="en-US" sz="2400" dirty="0"/>
              <a:t>行</a:t>
            </a:r>
            <a:r>
              <a:rPr lang="ja-JP" altLang="en-US" sz="2400" dirty="0"/>
              <a:t>・</a:t>
            </a:r>
            <a:r>
              <a:rPr lang="en-US" altLang="ja-JP" sz="2400" dirty="0"/>
              <a:t>3</a:t>
            </a:r>
            <a:r>
              <a:rPr lang="ja-JP" altLang="en-US" sz="2400" dirty="0"/>
              <a:t>列の表を指定して挿入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endParaRPr lang="en-US" altLang="ja-JP" sz="2400" dirty="0"/>
          </a:p>
          <a:p>
            <a:pPr marL="623887" lvl="0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en-US" altLang="ja-JP" sz="2400" dirty="0"/>
              <a:t>Word</a:t>
            </a:r>
            <a:r>
              <a:rPr lang="ja-JP" altLang="en-US" sz="2400" dirty="0"/>
              <a:t>と同様に数式も入力できる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ja-JP" altLang="en-US" sz="2400" dirty="0"/>
              <a:t>「挿入」タブ → オブジェクトを選択</a:t>
            </a:r>
            <a:endParaRPr lang="en-US" altLang="ja-JP" sz="2400" dirty="0"/>
          </a:p>
          <a:p>
            <a:pPr marL="623887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en-US" altLang="ja-JP" sz="2400" dirty="0"/>
              <a:t>Microsoft</a:t>
            </a:r>
            <a:r>
              <a:rPr lang="ja-JP" altLang="en-US" sz="2400" dirty="0"/>
              <a:t> 数式</a:t>
            </a:r>
            <a:r>
              <a:rPr lang="en-US" altLang="ja-JP" sz="2400" dirty="0"/>
              <a:t>3.0</a:t>
            </a:r>
            <a:r>
              <a:rPr lang="ja-JP" altLang="en-US" sz="2400" dirty="0"/>
              <a:t>を選択</a:t>
            </a:r>
            <a:endParaRPr kumimoji="1" lang="ja-JP" altLang="en-US" sz="2400" dirty="0"/>
          </a:p>
        </p:txBody>
      </p:sp>
      <p:graphicFrame>
        <p:nvGraphicFramePr>
          <p:cNvPr id="4" name="Group 110"/>
          <p:cNvGraphicFramePr>
            <a:graphicFrameLocks noGrp="1"/>
          </p:cNvGraphicFramePr>
          <p:nvPr/>
        </p:nvGraphicFramePr>
        <p:xfrm>
          <a:off x="4643438" y="1357298"/>
          <a:ext cx="4046534" cy="2001688"/>
        </p:xfrm>
        <a:graphic>
          <a:graphicData uri="http://schemas.openxmlformats.org/drawingml/2006/table">
            <a:tbl>
              <a:tblPr/>
              <a:tblGrid>
                <a:gridCol w="104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4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サブタイトル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講師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ソフトウェア</a:t>
                      </a:r>
                      <a:endParaRPr kumimoji="1" lang="ja-JP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教科書・参考書</a:t>
                      </a:r>
                      <a:endParaRPr kumimoji="1" lang="ja-JP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85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SAS</a:t>
                      </a: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によるデータ分析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箱井秀寿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SAS</a:t>
                      </a:r>
                      <a:endParaRPr kumimoji="1" lang="en-US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授業で配布</a:t>
                      </a:r>
                      <a:endParaRPr kumimoji="1" lang="ja-JP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46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無題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周防節雄</a:t>
                      </a:r>
                      <a:endParaRPr kumimoji="1" lang="ja-JP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SAS</a:t>
                      </a:r>
                      <a:endParaRPr kumimoji="1" lang="en-US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１．宮脇典彦・阪井和男著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「</a:t>
                      </a: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SAS</a:t>
                      </a: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によるデータ解析の基礎」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２．竹内啓監修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「</a:t>
                      </a: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SAS</a:t>
                      </a: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によるデータ解析入門」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３．田中克明著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「経済・経営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82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データ分析入門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雄山真弓</a:t>
                      </a:r>
                      <a:endParaRPr kumimoji="1" lang="ja-JP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JMP</a:t>
                      </a:r>
                      <a:endParaRPr kumimoji="1" lang="en-US" altLang="ja-JP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４．慶応</a:t>
                      </a:r>
                      <a:r>
                        <a:rPr kumimoji="1" lang="en-US" altLang="ja-JP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SFC</a:t>
                      </a: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データ分析教育グループ編</a:t>
                      </a:r>
                      <a:endParaRPr kumimoji="1" lang="ja-JP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明朝" charset="-128"/>
                        <a:cs typeface="Times New Roman" pitchFamily="18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ＭＳ 明朝" charset="-128"/>
                          <a:cs typeface="Times New Roman" pitchFamily="18" charset="0"/>
                        </a:rPr>
                        <a:t>「データ分析入門」</a:t>
                      </a:r>
                      <a:endParaRPr kumimoji="1" lang="ja-JP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明朝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2428860" y="4000504"/>
          <a:ext cx="6096000" cy="741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数式の挿入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挿入</a:t>
            </a:r>
            <a:r>
              <a:rPr lang="ja-JP" altLang="en-US">
                <a:sym typeface="Wingdings" pitchFamily="2" charset="2"/>
              </a:rPr>
              <a:t>オブジェクトで</a:t>
            </a:r>
            <a:r>
              <a:rPr lang="en-US" altLang="ja-JP">
                <a:sym typeface="Wingdings" pitchFamily="2" charset="2"/>
              </a:rPr>
              <a:t>Microsoft</a:t>
            </a:r>
            <a:r>
              <a:rPr lang="ja-JP" altLang="en-US"/>
              <a:t>数式を選択</a:t>
            </a:r>
          </a:p>
          <a:p>
            <a:r>
              <a:rPr lang="ja-JP" altLang="en-US"/>
              <a:t>開いた数式エディタウィンドウに以下の数式を記述，記述後閉じて，スライド上の式の配置サイズを変更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2771775" y="3860800"/>
          <a:ext cx="4548188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1892160" imgH="888840" progId="Equation.3">
                  <p:embed/>
                </p:oleObj>
              </mc:Choice>
              <mc:Fallback>
                <p:oleObj name="数式" r:id="rId3" imgW="1892160" imgH="8888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860800"/>
                        <a:ext cx="4548188" cy="213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アニメーションの</a:t>
            </a:r>
            <a:r>
              <a:rPr lang="ja-JP" altLang="en-US" sz="3600" dirty="0"/>
              <a:t>設定（</a:t>
            </a:r>
            <a:r>
              <a:rPr lang="en-US" altLang="ja-JP" sz="3600" dirty="0"/>
              <a:t>1</a:t>
            </a:r>
            <a:r>
              <a:rPr lang="ja-JP" altLang="en-US" sz="3600" dirty="0"/>
              <a:t>）</a:t>
            </a:r>
            <a:endParaRPr kumimoji="1" lang="ja-JP" altLang="en-US" sz="3600" dirty="0"/>
          </a:p>
        </p:txBody>
      </p:sp>
      <p:sp>
        <p:nvSpPr>
          <p:cNvPr id="2" name="コンテンツ プレースホルダ 1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229600" cy="4929222"/>
          </a:xfrm>
        </p:spPr>
        <p:txBody>
          <a:bodyPr>
            <a:normAutofit fontScale="85000" lnSpcReduction="20000"/>
          </a:bodyPr>
          <a:lstStyle/>
          <a:p>
            <a:r>
              <a:rPr lang="ja-JP" altLang="en-US" sz="2800" dirty="0"/>
              <a:t>スライドの編集（</a:t>
            </a:r>
            <a:r>
              <a:rPr lang="en-US" altLang="ja-JP" sz="2800" dirty="0"/>
              <a:t>2</a:t>
            </a:r>
            <a:r>
              <a:rPr lang="ja-JP" altLang="en-US" sz="2800" dirty="0"/>
              <a:t>）図・文字の挿入</a:t>
            </a:r>
            <a:br>
              <a:rPr lang="en-US" altLang="ja-JP" sz="2800" dirty="0"/>
            </a:br>
            <a:r>
              <a:rPr lang="ja-JP" altLang="en-US" sz="2800" dirty="0"/>
              <a:t>スライドを選択</a:t>
            </a:r>
            <a:endParaRPr kumimoji="1" lang="en-US" altLang="ja-JP" sz="2800" dirty="0"/>
          </a:p>
          <a:p>
            <a:endParaRPr lang="en-US" altLang="ja-JP" sz="2800" dirty="0"/>
          </a:p>
          <a:p>
            <a:r>
              <a:rPr kumimoji="1" lang="ja-JP" altLang="en-US" sz="2800" dirty="0"/>
              <a:t>「アニメーション」タブ </a:t>
            </a:r>
            <a:endParaRPr kumimoji="1" lang="en-US" altLang="ja-JP" sz="2800" dirty="0"/>
          </a:p>
          <a:p>
            <a:pPr indent="801688">
              <a:buNone/>
            </a:pPr>
            <a:r>
              <a:rPr kumimoji="1" lang="ja-JP" altLang="en-US" sz="2800" dirty="0"/>
              <a:t>→ アニメーションの設定</a:t>
            </a:r>
            <a:endParaRPr kumimoji="1" lang="en-US" altLang="ja-JP" sz="2800" dirty="0"/>
          </a:p>
          <a:p>
            <a:r>
              <a:rPr lang="ja-JP" altLang="en-US" sz="2800" dirty="0"/>
              <a:t>必ず命令を与えようとする</a:t>
            </a:r>
            <a:endParaRPr lang="en-US" altLang="ja-JP" sz="2800" dirty="0"/>
          </a:p>
          <a:p>
            <a:pPr indent="974725">
              <a:buNone/>
            </a:pPr>
            <a:r>
              <a:rPr lang="ja-JP" altLang="en-US" sz="3200" b="1" dirty="0">
                <a:solidFill>
                  <a:srgbClr val="FF0000"/>
                </a:solidFill>
              </a:rPr>
              <a:t>オブジェクトを選んで</a:t>
            </a:r>
            <a:r>
              <a:rPr lang="ja-JP" altLang="en-US" sz="2800" dirty="0"/>
              <a:t>から</a:t>
            </a:r>
            <a:endParaRPr lang="en-US" altLang="ja-JP" sz="2800" dirty="0"/>
          </a:p>
          <a:p>
            <a:pPr indent="974725">
              <a:buNone/>
            </a:pPr>
            <a:r>
              <a:rPr lang="ja-JP" altLang="en-US" sz="2800" dirty="0"/>
              <a:t>→ アニメーションの追加</a:t>
            </a:r>
            <a:endParaRPr lang="en-US" altLang="ja-JP" sz="2800" dirty="0"/>
          </a:p>
          <a:p>
            <a:r>
              <a:rPr lang="ja-JP" altLang="en-US" sz="2800" dirty="0"/>
              <a:t>開始や強調でいずれかの効果を選ぶ</a:t>
            </a:r>
            <a:endParaRPr lang="en-US" altLang="ja-JP" sz="2800" dirty="0"/>
          </a:p>
          <a:p>
            <a:r>
              <a:rPr lang="ja-JP" altLang="en-US" sz="2800" dirty="0"/>
              <a:t>プレビューで実行</a:t>
            </a:r>
            <a:endParaRPr lang="en-US" altLang="ja-JP" sz="2800" dirty="0"/>
          </a:p>
          <a:p>
            <a:endParaRPr lang="en-US" altLang="ja-JP" sz="2800" dirty="0"/>
          </a:p>
          <a:p>
            <a:pPr indent="-269875"/>
            <a:endParaRPr kumimoji="1" lang="en-US" altLang="ja-JP" sz="2800" dirty="0"/>
          </a:p>
          <a:p>
            <a:pPr indent="-269875"/>
            <a:r>
              <a:rPr kumimoji="1" lang="ja-JP" altLang="en-US" sz="2800" dirty="0"/>
              <a:t>アニメーションウィンドウを開くと色々設定</a:t>
            </a:r>
          </a:p>
        </p:txBody>
      </p:sp>
      <p:pic>
        <p:nvPicPr>
          <p:cNvPr id="4" name="図 3" descr="作業ウィンドウ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414" y="1814581"/>
            <a:ext cx="2872304" cy="477629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7000892" y="6199870"/>
            <a:ext cx="1928826" cy="52322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latin typeface="Bodoni MT Black" pitchFamily="18" charset="0"/>
                <a:ea typeface="New Gulim" pitchFamily="18" charset="-127"/>
              </a:rPr>
              <a:t>Ctrl + S</a:t>
            </a:r>
            <a:endParaRPr kumimoji="1" lang="ja-JP" altLang="en-US" sz="2800" b="1" dirty="0">
              <a:latin typeface="Bodoni MT Black" pitchFamily="18" charset="0"/>
              <a:ea typeface="New Guli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アニメーションの設定（</a:t>
            </a:r>
            <a:r>
              <a:rPr kumimoji="1" lang="en-US" altLang="ja-JP" sz="3600" dirty="0"/>
              <a:t>2</a:t>
            </a:r>
            <a:r>
              <a:rPr kumimoji="1" lang="ja-JP" altLang="en-US" sz="3600" dirty="0"/>
              <a:t>）</a:t>
            </a:r>
          </a:p>
        </p:txBody>
      </p:sp>
      <p:pic>
        <p:nvPicPr>
          <p:cNvPr id="4" name="図 3" descr="アニメーションの設定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1357298"/>
            <a:ext cx="4143404" cy="444695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4500562" y="1714488"/>
            <a:ext cx="4357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8288">
              <a:buFont typeface="Arial" pitchFamily="34" charset="0"/>
              <a:buChar char="•"/>
            </a:pPr>
            <a:r>
              <a:rPr lang="ja-JP" altLang="en-US" sz="2400" dirty="0"/>
              <a:t>その他の効果を選択</a:t>
            </a:r>
            <a:endParaRPr lang="en-US" altLang="ja-JP" sz="2400" dirty="0"/>
          </a:p>
          <a:p>
            <a:pPr marL="268288" indent="-268288">
              <a:buFont typeface="Arial" pitchFamily="34" charset="0"/>
              <a:buChar char="•"/>
            </a:pPr>
            <a:r>
              <a:rPr kumimoji="1" lang="ja-JP" altLang="en-US" sz="2400" dirty="0"/>
              <a:t>別ウィンドウが開き、効果を選択す</a:t>
            </a:r>
            <a:r>
              <a:rPr lang="ja-JP" altLang="en-US" sz="2400" dirty="0"/>
              <a:t>るとプレビューが見られる。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43438" y="3357562"/>
            <a:ext cx="40719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8288" algn="ctr"/>
            <a:r>
              <a:rPr lang="ja-JP" altLang="en-US" sz="3200" b="1" dirty="0">
                <a:solidFill>
                  <a:srgbClr val="FF0000"/>
                </a:solidFill>
              </a:rPr>
              <a:t>華美な演出は不要</a:t>
            </a:r>
            <a:endParaRPr lang="en-US" altLang="ja-JP" sz="3200" b="1" dirty="0">
              <a:solidFill>
                <a:srgbClr val="FF0000"/>
              </a:solidFill>
            </a:endParaRPr>
          </a:p>
          <a:p>
            <a:pPr indent="268288" algn="ctr"/>
            <a:r>
              <a:rPr lang="ja-JP" altLang="en-US" sz="3200" b="1" dirty="0">
                <a:solidFill>
                  <a:srgbClr val="FF0000"/>
                </a:solidFill>
              </a:rPr>
              <a:t>内容で勝負しよう！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572000" y="5143512"/>
            <a:ext cx="4357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8288">
              <a:buFont typeface="Arial" pitchFamily="34" charset="0"/>
              <a:buChar char="•"/>
            </a:pPr>
            <a:r>
              <a:rPr kumimoji="1" lang="ja-JP" altLang="en-US" sz="2400" dirty="0"/>
              <a:t>アニメーションウィンドウの　  </a:t>
            </a:r>
            <a:br>
              <a:rPr lang="en-US" altLang="ja-JP" sz="2400" dirty="0"/>
            </a:br>
            <a:r>
              <a:rPr lang="ja-JP" altLang="en-US" sz="2400" dirty="0"/>
              <a:t>　　　</a:t>
            </a:r>
            <a:r>
              <a:rPr kumimoji="1" lang="ja-JP" altLang="en-US" sz="2400" dirty="0"/>
              <a:t>　</a:t>
            </a:r>
            <a:r>
              <a:rPr kumimoji="1" lang="ja-JP" altLang="en-US" sz="2000" dirty="0"/>
              <a:t>再生　　</a:t>
            </a:r>
            <a:r>
              <a:rPr lang="ja-JP" altLang="en-US" sz="2400" dirty="0"/>
              <a:t>ボタンでスライドショーをチェック</a:t>
            </a:r>
            <a:endParaRPr kumimoji="1" lang="ja-JP" altLang="en-US" sz="2400" dirty="0"/>
          </a:p>
        </p:txBody>
      </p:sp>
      <p:sp>
        <p:nvSpPr>
          <p:cNvPr id="8" name="二等辺三角形 7"/>
          <p:cNvSpPr/>
          <p:nvPr/>
        </p:nvSpPr>
        <p:spPr>
          <a:xfrm rot="5400000">
            <a:off x="5041720" y="5625856"/>
            <a:ext cx="321471" cy="2539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5004048" y="5520652"/>
            <a:ext cx="1088313" cy="4286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pPr algn="ctr"/>
            <a:r>
              <a:rPr lang="ja-JP" altLang="en-US" sz="3600" dirty="0"/>
              <a:t>ハイパーリンクの設定</a:t>
            </a:r>
            <a:endParaRPr kumimoji="1" lang="ja-JP" altLang="en-US" sz="3600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229600" cy="285752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Google</a:t>
            </a:r>
            <a:r>
              <a:rPr kumimoji="1" lang="ja-JP" altLang="en-US" dirty="0"/>
              <a:t>で教材を探して</a:t>
            </a:r>
            <a:endParaRPr kumimoji="1" lang="en-US" altLang="ja-JP" dirty="0"/>
          </a:p>
          <a:p>
            <a:endParaRPr kumimoji="1" lang="en-US" altLang="ja-JP" sz="1600" dirty="0"/>
          </a:p>
          <a:p>
            <a:pPr indent="3403600">
              <a:buNone/>
            </a:pPr>
            <a:endParaRPr lang="en-US" altLang="ja-JP" sz="2000" dirty="0"/>
          </a:p>
          <a:p>
            <a:pPr indent="3403600">
              <a:buNone/>
            </a:pPr>
            <a:r>
              <a:rPr lang="ja-JP" altLang="en-US" sz="2000" dirty="0"/>
              <a:t>教材</a:t>
            </a:r>
            <a:endParaRPr lang="en-US" altLang="ja-JP" sz="2000" dirty="0"/>
          </a:p>
          <a:p>
            <a:pPr indent="3403600">
              <a:buNone/>
            </a:pPr>
            <a:endParaRPr lang="en-US" altLang="ja-JP" sz="2000" dirty="0"/>
          </a:p>
          <a:p>
            <a:pPr indent="-192088" algn="ctr">
              <a:buNone/>
            </a:pPr>
            <a:r>
              <a:rPr lang="en-US" altLang="ja-JP" sz="2400" dirty="0">
                <a:hlinkClick r:id="rId3"/>
              </a:rPr>
              <a:t>http://mos.odyssey-com.co.jp/study/text2010.html</a:t>
            </a:r>
            <a:endParaRPr kumimoji="1" lang="en-US" altLang="ja-JP" sz="2000" dirty="0"/>
          </a:p>
          <a:p>
            <a:pPr>
              <a:buNone/>
            </a:pP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14348" y="4214818"/>
            <a:ext cx="7500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8288">
              <a:buFont typeface="Arial" pitchFamily="34" charset="0"/>
              <a:buChar char="•"/>
            </a:pPr>
            <a:r>
              <a:rPr kumimoji="1" lang="en-US" altLang="ja-JP" sz="2400" dirty="0"/>
              <a:t>Microsoft Office specialist</a:t>
            </a:r>
            <a:r>
              <a:rPr kumimoji="1" lang="ja-JP" altLang="en-US" sz="2400" dirty="0"/>
              <a:t>のバナーと 教材 の文字に</a:t>
            </a:r>
            <a:endParaRPr kumimoji="1" lang="en-US" altLang="ja-JP" sz="2400" dirty="0"/>
          </a:p>
          <a:p>
            <a:pPr indent="276225"/>
            <a:r>
              <a:rPr lang="ja-JP" altLang="en-US" sz="2400" dirty="0"/>
              <a:t>ハイパーリンクを設定して、スライドショーを実行</a:t>
            </a:r>
            <a:endParaRPr lang="en-US" altLang="ja-JP" sz="2400" dirty="0"/>
          </a:p>
          <a:p>
            <a:endParaRPr kumimoji="1" lang="en-US" altLang="ja-JP" sz="2400" dirty="0"/>
          </a:p>
          <a:p>
            <a:pPr indent="276225">
              <a:buFont typeface="Arial" pitchFamily="34" charset="0"/>
              <a:buChar char="•"/>
            </a:pPr>
            <a:r>
              <a:rPr lang="ja-JP" altLang="en-US" sz="2400" dirty="0"/>
              <a:t>スライドショーから</a:t>
            </a:r>
            <a:r>
              <a:rPr lang="en-US" altLang="ja-JP" sz="2400" dirty="0"/>
              <a:t>Web</a:t>
            </a:r>
            <a:r>
              <a:rPr lang="ja-JP" altLang="en-US" sz="2400" dirty="0"/>
              <a:t>にアクセスできるかを確認</a:t>
            </a:r>
            <a:endParaRPr kumimoji="1" lang="ja-JP" altLang="en-US" sz="2400" dirty="0"/>
          </a:p>
        </p:txBody>
      </p:sp>
      <p:pic>
        <p:nvPicPr>
          <p:cNvPr id="4098" name="Picture 2" descr="マイクロソフト オフィス スペシャリスト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16832"/>
            <a:ext cx="1769128" cy="106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9146"/>
          </a:xfrm>
        </p:spPr>
        <p:txBody>
          <a:bodyPr/>
          <a:lstStyle/>
          <a:p>
            <a:pPr algn="ctr"/>
            <a:r>
              <a:rPr lang="ja-JP" altLang="en-US" dirty="0"/>
              <a:t>あらゆる状況を想定して保存しよう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>
          <a:xfrm>
            <a:off x="500034" y="1071546"/>
            <a:ext cx="8229600" cy="13525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Office</a:t>
            </a:r>
            <a:r>
              <a:rPr kumimoji="1" lang="ja-JP" altLang="en-US" dirty="0"/>
              <a:t>のバージョンが古い場合</a:t>
            </a:r>
            <a:endParaRPr kumimoji="1" lang="en-US" altLang="ja-JP" dirty="0"/>
          </a:p>
          <a:p>
            <a:pPr marL="788670" lvl="1" indent="-514350">
              <a:buNone/>
            </a:pPr>
            <a:r>
              <a:rPr lang="en-US" altLang="ja-JP" dirty="0"/>
              <a:t>Office2003</a:t>
            </a:r>
            <a:r>
              <a:rPr lang="ja-JP" altLang="en-US" dirty="0"/>
              <a:t>などの場合、</a:t>
            </a:r>
            <a:r>
              <a:rPr lang="en-US" altLang="ja-JP" dirty="0"/>
              <a:t>2010</a:t>
            </a:r>
            <a:r>
              <a:rPr lang="ja-JP" altLang="en-US" dirty="0"/>
              <a:t>形式</a:t>
            </a:r>
            <a:r>
              <a:rPr lang="en-US" altLang="ja-JP" dirty="0"/>
              <a:t>(.</a:t>
            </a:r>
            <a:r>
              <a:rPr lang="en-US" altLang="ja-JP" dirty="0" err="1"/>
              <a:t>pptx</a:t>
            </a:r>
            <a:r>
              <a:rPr lang="en-US" altLang="ja-JP" dirty="0"/>
              <a:t>)</a:t>
            </a:r>
            <a:r>
              <a:rPr lang="ja-JP" altLang="en-US" dirty="0"/>
              <a:t>のファイルが見れない。</a:t>
            </a:r>
            <a:endParaRPr lang="en-US" altLang="ja-JP" dirty="0"/>
          </a:p>
          <a:p>
            <a:pPr marL="788670" lvl="1" indent="-514350">
              <a:buNone/>
            </a:pPr>
            <a:r>
              <a:rPr lang="ja-JP" altLang="en-US" dirty="0"/>
              <a:t>　　　→</a:t>
            </a:r>
            <a:r>
              <a:rPr lang="en-US" altLang="ja-JP" dirty="0"/>
              <a:t>PowerPoint97-2003</a:t>
            </a:r>
            <a:r>
              <a:rPr lang="ja-JP" altLang="en-US" dirty="0"/>
              <a:t>形式で保存する。（拡張子　</a:t>
            </a:r>
            <a:r>
              <a:rPr lang="en-US" altLang="ja-JP" dirty="0"/>
              <a:t>.</a:t>
            </a:r>
            <a:r>
              <a:rPr lang="en-US" altLang="ja-JP" dirty="0" err="1"/>
              <a:t>ppt</a:t>
            </a:r>
            <a:r>
              <a:rPr lang="ja-JP" altLang="en-US" dirty="0"/>
              <a:t>）</a:t>
            </a:r>
            <a:endParaRPr lang="en-US" altLang="ja-JP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43240" y="2465800"/>
            <a:ext cx="56436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altLang="ja-JP" sz="2400" dirty="0"/>
              <a:t>PC</a:t>
            </a:r>
            <a:r>
              <a:rPr lang="ja-JP" altLang="en-US" sz="2400" dirty="0"/>
              <a:t>に</a:t>
            </a:r>
            <a:r>
              <a:rPr lang="en-US" altLang="ja-JP" sz="2400" dirty="0"/>
              <a:t>Microsoft Office</a:t>
            </a:r>
            <a:r>
              <a:rPr lang="ja-JP" altLang="en-US" sz="2400" dirty="0"/>
              <a:t>がない場合</a:t>
            </a:r>
            <a:endParaRPr lang="en-US" altLang="ja-JP" sz="2400" dirty="0"/>
          </a:p>
          <a:p>
            <a:pPr marL="788670" lvl="1" indent="-514350">
              <a:buFont typeface="+mj-ea"/>
              <a:buAutoNum type="circleNumDbPlain"/>
            </a:pPr>
            <a:r>
              <a:rPr lang="en-US" altLang="ja-JP" sz="2400" dirty="0"/>
              <a:t>Web</a:t>
            </a:r>
            <a:r>
              <a:rPr lang="ja-JP" altLang="en-US" sz="2400" dirty="0"/>
              <a:t>ページ </a:t>
            </a:r>
            <a:r>
              <a:rPr lang="en-US" altLang="ja-JP" sz="2400" dirty="0"/>
              <a:t>or </a:t>
            </a:r>
            <a:r>
              <a:rPr lang="ja-JP" altLang="en-US" sz="2400" dirty="0"/>
              <a:t>画像として保存する</a:t>
            </a:r>
            <a:endParaRPr lang="en-US" altLang="ja-JP" sz="2400" dirty="0"/>
          </a:p>
          <a:p>
            <a:pPr marL="788670" lvl="1" indent="-514350">
              <a:buFont typeface="+mj-ea"/>
              <a:buAutoNum type="circleNumDbPlain"/>
            </a:pPr>
            <a:r>
              <a:rPr lang="en-US" altLang="ja-JP" sz="2400" dirty="0"/>
              <a:t>PDF</a:t>
            </a:r>
            <a:r>
              <a:rPr lang="ja-JP" altLang="en-US" sz="2400" dirty="0"/>
              <a:t>ファイルとして保存する</a:t>
            </a:r>
            <a:endParaRPr lang="en-US" altLang="ja-JP" sz="2200" dirty="0"/>
          </a:p>
          <a:p>
            <a:pPr marL="787400" lvl="1" indent="-787400"/>
            <a:endParaRPr lang="en-US" altLang="ja-JP" sz="1200" dirty="0"/>
          </a:p>
          <a:p>
            <a:pPr marL="787400" lvl="1" indent="-787400" algn="ctr"/>
            <a:r>
              <a:rPr lang="ja-JP" altLang="en-US" sz="2200" dirty="0"/>
              <a:t>「名前を付けて保存」→「その他形式」</a:t>
            </a:r>
            <a:endParaRPr lang="en-US" altLang="ja-JP" sz="2200" dirty="0"/>
          </a:p>
          <a:p>
            <a:pPr marL="787400" lvl="1" indent="-787400" algn="ctr"/>
            <a:r>
              <a:rPr kumimoji="1" lang="ja-JP" altLang="en-US" sz="2200" dirty="0"/>
              <a:t>　</a:t>
            </a:r>
            <a:r>
              <a:rPr kumimoji="1" lang="en-US" altLang="ja-JP" sz="2200" dirty="0"/>
              <a:t>Web</a:t>
            </a:r>
            <a:r>
              <a:rPr kumimoji="1" lang="ja-JP" altLang="en-US" sz="2200" dirty="0"/>
              <a:t>ページ　</a:t>
            </a:r>
            <a:r>
              <a:rPr kumimoji="1" lang="en-US" altLang="ja-JP" sz="2200" dirty="0"/>
              <a:t>or JPEG </a:t>
            </a:r>
            <a:r>
              <a:rPr kumimoji="1" lang="ja-JP" altLang="en-US" sz="2200" dirty="0"/>
              <a:t>形式で保存</a:t>
            </a:r>
          </a:p>
        </p:txBody>
      </p:sp>
      <p:pic>
        <p:nvPicPr>
          <p:cNvPr id="8" name="図 7" descr="hozon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32" y="2428868"/>
            <a:ext cx="2841678" cy="4143404"/>
          </a:xfrm>
          <a:prstGeom prst="rect">
            <a:avLst/>
          </a:prstGeom>
          <a:ln w="1905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図 8" descr="hozon0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54" y="4500570"/>
            <a:ext cx="5143536" cy="2090025"/>
          </a:xfrm>
          <a:prstGeom prst="rect">
            <a:avLst/>
          </a:prstGeom>
          <a:ln w="952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1" name="直線コネクタ 10"/>
          <p:cNvCxnSpPr/>
          <p:nvPr/>
        </p:nvCxnSpPr>
        <p:spPr>
          <a:xfrm flipV="1">
            <a:off x="2214546" y="4500570"/>
            <a:ext cx="1143008" cy="857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2143108" y="6357958"/>
            <a:ext cx="1214446" cy="214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まとめと課題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中味を大事にした上で，良いプレゼン</a:t>
            </a:r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スライド一覧表示でストーリーをよく練る</a:t>
            </a:r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字は大きく，詰め込まない．要点だけを書いて説明</a:t>
            </a:r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手間を惜しまず図を多用して判りやすく</a:t>
            </a:r>
          </a:p>
          <a:p>
            <a:pPr eaLnBrk="1" hangingPunct="1">
              <a:lnSpc>
                <a:spcPct val="80000"/>
              </a:lnSpc>
            </a:pPr>
            <a:endParaRPr lang="ja-JP" altLang="en-US" sz="2600" dirty="0"/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ワードで作成した文書の内容とプレゼンを連携．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600" dirty="0" err="1"/>
              <a:t>powerpoint</a:t>
            </a:r>
            <a:r>
              <a:rPr lang="ja-JP" altLang="en-US" sz="2600" dirty="0"/>
              <a:t>ファイルを来週までに作成，</a:t>
            </a:r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作成したスライドを配付資料に印刷して来週の授業時間に提出</a:t>
            </a:r>
          </a:p>
          <a:p>
            <a:pPr eaLnBrk="1" hangingPunct="1">
              <a:lnSpc>
                <a:spcPct val="80000"/>
              </a:lnSpc>
            </a:pPr>
            <a:r>
              <a:rPr lang="ja-JP" altLang="en-US" sz="2600" dirty="0"/>
              <a:t>ワードの文や図，表をコピーして手早く作成</a:t>
            </a:r>
          </a:p>
        </p:txBody>
      </p:sp>
      <p:sp>
        <p:nvSpPr>
          <p:cNvPr id="39940" name="AutoShape 4"/>
          <p:cNvSpPr>
            <a:spLocks noChangeArrowheads="1"/>
          </p:cNvSpPr>
          <p:nvPr/>
        </p:nvSpPr>
        <p:spPr bwMode="auto">
          <a:xfrm>
            <a:off x="6838950" y="5572140"/>
            <a:ext cx="2305050" cy="719137"/>
          </a:xfrm>
          <a:prstGeom prst="wedgeRoundRectCallout">
            <a:avLst>
              <a:gd name="adj1" fmla="val 21399"/>
              <a:gd name="adj2" fmla="val -276239"/>
              <a:gd name="adj3" fmla="val 16667"/>
            </a:avLst>
          </a:prstGeom>
          <a:solidFill>
            <a:srgbClr val="DFE5A5"/>
          </a:solidFill>
          <a:ln w="28575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ja-JP" altLang="en-US"/>
              <a:t>友達同士でプレゼンを互いに聞くと良い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アース">
  <a:themeElements>
    <a:clrScheme name="アース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アース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アース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2768</TotalTime>
  <Words>1625</Words>
  <Application>Microsoft Macintosh PowerPoint</Application>
  <PresentationFormat>画面に合わせる (4:3)</PresentationFormat>
  <Paragraphs>247</Paragraphs>
  <Slides>17</Slides>
  <Notes>17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30" baseType="lpstr">
      <vt:lpstr>HG創英角ﾎﾟｯﾌﾟ体</vt:lpstr>
      <vt:lpstr>ＭＳ Ｐゴシック</vt:lpstr>
      <vt:lpstr>Arial</vt:lpstr>
      <vt:lpstr>Bodoni MT Black</vt:lpstr>
      <vt:lpstr>Bookman Old Style</vt:lpstr>
      <vt:lpstr>Calibri</vt:lpstr>
      <vt:lpstr>Century</vt:lpstr>
      <vt:lpstr>Gill Sans MT</vt:lpstr>
      <vt:lpstr>Verdana</vt:lpstr>
      <vt:lpstr>Wingdings</vt:lpstr>
      <vt:lpstr>Wingdings 3</vt:lpstr>
      <vt:lpstr>アース</vt:lpstr>
      <vt:lpstr>数式</vt:lpstr>
      <vt:lpstr>コンピュータ演習　プレゼンテーションの基礎岡田孝・山下雅啓</vt:lpstr>
      <vt:lpstr>PowerPoint 2010の基礎</vt:lpstr>
      <vt:lpstr>表示方法の変更</vt:lpstr>
      <vt:lpstr>印刷してみよう</vt:lpstr>
      <vt:lpstr>印刷形式の使い分け</vt:lpstr>
      <vt:lpstr>スライドの編集（1）箇条書き</vt:lpstr>
      <vt:lpstr>スライドの編集（2）図・文字の挿入</vt:lpstr>
      <vt:lpstr>スライドの編集（2）完成予想図</vt:lpstr>
      <vt:lpstr>スライドの編集（3）図の編集</vt:lpstr>
      <vt:lpstr>スライドの編集（3） 完成予想図</vt:lpstr>
      <vt:lpstr>スライドの編集（4）表の挿入</vt:lpstr>
      <vt:lpstr>数式の挿入</vt:lpstr>
      <vt:lpstr>アニメーションの設定（1）</vt:lpstr>
      <vt:lpstr>アニメーションの設定（2）</vt:lpstr>
      <vt:lpstr>ハイパーリンクの設定</vt:lpstr>
      <vt:lpstr>あらゆる状況を想定して保存しよう</vt:lpstr>
      <vt:lpstr>まとめと課題</vt:lpstr>
    </vt:vector>
  </TitlesOfParts>
  <Company>関西学院大学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コンピュータ演習 プレゼンテーションの基礎</dc:title>
  <dc:creator>山下　雅啓</dc:creator>
  <cp:lastModifiedBy>西谷　滋人</cp:lastModifiedBy>
  <cp:revision>216</cp:revision>
  <cp:lastPrinted>2011-05-31T04:15:16Z</cp:lastPrinted>
  <dcterms:created xsi:type="dcterms:W3CDTF">2008-04-24T07:59:06Z</dcterms:created>
  <dcterms:modified xsi:type="dcterms:W3CDTF">2025-05-15T08:36:13Z</dcterms:modified>
</cp:coreProperties>
</file>